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155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6AB5-08FF-16FA-786C-DF1F25FAE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BA3C0-C673-EBD7-4485-2F7FD5D4A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CC75-0CAD-9B00-48CD-3AE4FAD0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23C2C-9A5B-B6B3-C532-C51397EF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419C3-1AD9-B5C5-3DD0-BD1CDFC5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80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0AB4-3458-2B70-37A9-C695A04C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60E73-2FB8-326A-FA64-0D7D8314E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86D1D-2208-A602-7AF1-3862C12E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A99FE-3681-B934-9C99-12612CF91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6852E-5DBB-0303-2457-C717CCCD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8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5FA2-DC2C-86B9-EF8F-96253ECF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3E12F-5B64-B715-0810-1504456A4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5C851-3081-6ED9-5355-6E0BF04E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393BA-9B90-F87D-9AB1-C3D2EE5D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1656A-D18C-2A49-6320-CB1C5AFE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9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6A3E3-522F-7AF8-1DFF-D18AE632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80121-ACF2-2208-893C-76B040F44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E36F2-8CCF-8AFE-C224-B1FFAA72F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39377-1741-8A4D-3D00-4F1E4312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C4589-6520-B0FE-AA56-803E1A83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0DB2B-31B0-6D8D-C1B9-9D5BBC67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5DBC-6DD7-C2B4-A12F-A8F4472F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97726-0D8C-4CE7-FD20-36AD8DD2F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DA693-DC8D-8062-4A79-CA8AAE733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6E0F81-806F-60C7-897A-DABC69056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3771C-7DC0-E2E0-4CD3-C271015CD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03444E-9465-7A26-538B-CB37EA1A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8F741-0BFF-9C37-481D-1D6E93A7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0D6A8-1500-B848-1CA0-FC6336D1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DA50-F8AE-6087-0EBB-EA2BE156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4FCB2-CF97-3624-3070-A27C7F1D9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89D1D-A66E-EB71-E500-5F7E4BAF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0DEB1-7806-184B-F4F7-AA022B12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67F97-1421-12AE-0035-1C7116B5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719732-84BD-D385-A94C-AAD1CD37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FD632-9054-919E-D502-57420B3E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48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891F-F8A7-DE45-051D-4E7DBFE3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12BBB-85DC-AACC-F433-5BD030856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FA0E6-FC02-7113-2A85-5A08FB3EB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D6AAD-9972-768C-3EF4-183AA21B5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DE6FB-8C49-A298-FF88-2F71A1BC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DA755-A35E-57A6-B750-89BF448D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4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343B-4500-03D3-7BDF-05CD283E8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66F4C-1A20-3EDB-8CB7-C47F2A2B1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DE133-7108-3634-A55A-C9C337AC2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F2799-7B25-1450-29B2-130B24DE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46F2E-23F4-6052-10D6-D020CB0A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48EC7-F72E-6A06-B045-3B331990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0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E53E-11D6-0605-F1CD-6F640B93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3F6D2-A5D2-E2BD-FE36-BB2BF2D3A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C789C-54E6-BE27-FCB3-1BEF30892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1391-B0E4-B4BC-42AE-D8456D6DB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B7547-0523-9898-BA2C-70DC6071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C8056-32B1-CE11-80F7-865D36DD6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7CF93-4384-D836-21E4-725CACFAF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05AD7-BDA7-0970-4B63-D3FF3D19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64BAE-410F-C6AF-91D3-960FA8F1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D9DEB-F3FC-A23A-2B58-AF8F8FAC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43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664590"/>
            <a:ext cx="4598212" cy="696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075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2E7A0-6FC1-9D17-CD4E-CFBAFB44D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59EF4-7411-711A-78E4-FB6408AEF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C3A4A-34A9-073E-4F17-971B83BE0F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D189-A45F-2160-D8AE-94F424690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1CBDD-0B6D-03FB-EDD8-BEA8E86B2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3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186" y="2878581"/>
            <a:ext cx="7334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</a:t>
            </a:r>
            <a:r>
              <a:rPr sz="4000" b="1" spc="-1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</a:t>
            </a:r>
            <a:r>
              <a:rPr sz="4000" b="1" spc="-13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4000" b="1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</a:t>
            </a:r>
            <a:r>
              <a:rPr sz="4000" b="1" spc="-1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40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40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sz="40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85800"/>
            <a:ext cx="7886700" cy="598496"/>
          </a:xfrm>
          <a:prstGeom prst="rect">
            <a:avLst/>
          </a:prstGeom>
        </p:spPr>
        <p:txBody>
          <a:bodyPr vert="horz" wrap="square" lIns="0" tIns="1659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What</a:t>
            </a:r>
            <a:r>
              <a:rPr sz="2800" b="1" spc="-5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is</a:t>
            </a:r>
            <a:r>
              <a:rPr sz="2800" b="1"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RAID</a:t>
            </a:r>
            <a:r>
              <a:rPr sz="2800" b="1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sz="2800" b="1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?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86230"/>
            <a:ext cx="8063865" cy="4142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RAID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stands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“Redundant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Inexpensive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Disks”.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000" dirty="0">
              <a:latin typeface="Calibri"/>
              <a:cs typeface="Calibri"/>
            </a:endParaRPr>
          </a:p>
          <a:p>
            <a:pPr marL="12700" marR="4254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behind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inexpensive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disk </a:t>
            </a:r>
            <a:r>
              <a:rPr sz="2000" dirty="0">
                <a:latin typeface="Calibri"/>
                <a:cs typeface="Calibri"/>
              </a:rPr>
              <a:t>drives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yields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exceeding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expensive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drive.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drives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appear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single 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storage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drive.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</a:pPr>
            <a:r>
              <a:rPr sz="2000" dirty="0">
                <a:latin typeface="Calibri"/>
                <a:cs typeface="Calibri"/>
              </a:rPr>
              <a:t>Some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concepts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chapter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important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factors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deciding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particular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situation.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Parity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concept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add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redundancy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storage.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parity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digit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ensure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always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odd.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capacity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parity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clever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way,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failures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happen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data-</a:t>
            </a:r>
            <a:r>
              <a:rPr sz="2000" dirty="0">
                <a:latin typeface="Calibri"/>
                <a:cs typeface="Calibri"/>
              </a:rPr>
              <a:t>loss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missing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recalculated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bit.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9007" y="762000"/>
            <a:ext cx="7886700" cy="590802"/>
          </a:xfrm>
          <a:prstGeom prst="rect">
            <a:avLst/>
          </a:prstGeom>
        </p:spPr>
        <p:txBody>
          <a:bodyPr vert="horz" wrap="square" lIns="0" tIns="1583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Redundancy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8074025" cy="3013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Redundancy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feature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array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survive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failure.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all </a:t>
            </a:r>
            <a:r>
              <a:rPr sz="2000" dirty="0">
                <a:latin typeface="Calibri"/>
                <a:cs typeface="Calibri"/>
              </a:rPr>
              <a:t>RAID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support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feature.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fact,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although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RAID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describe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certain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non-</a:t>
            </a:r>
            <a:r>
              <a:rPr sz="2000" dirty="0">
                <a:latin typeface="Calibri"/>
                <a:cs typeface="Calibri"/>
              </a:rPr>
              <a:t>redundant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arrays,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arrays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not,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fact, </a:t>
            </a:r>
            <a:r>
              <a:rPr sz="2000" dirty="0">
                <a:latin typeface="Calibri"/>
                <a:cs typeface="Calibri"/>
              </a:rPr>
              <a:t>RAID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support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redundancy.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Note:</a:t>
            </a:r>
            <a:endParaRPr sz="2000">
              <a:latin typeface="Calibri"/>
              <a:cs typeface="Calibri"/>
            </a:endParaRPr>
          </a:p>
          <a:p>
            <a:pPr marL="12700" marR="7620">
              <a:lnSpc>
                <a:spcPct val="100000"/>
              </a:lnSpc>
              <a:spcBef>
                <a:spcPts val="480"/>
              </a:spcBef>
              <a:tabLst>
                <a:tab pos="978535" algn="l"/>
                <a:tab pos="1405255" algn="l"/>
                <a:tab pos="2673985" algn="l"/>
                <a:tab pos="4082415" algn="l"/>
                <a:tab pos="4769485" algn="l"/>
                <a:tab pos="5644515" algn="l"/>
                <a:tab pos="6412865" algn="l"/>
                <a:tab pos="6856095" algn="l"/>
                <a:tab pos="7531734" algn="l"/>
                <a:tab pos="7935595" algn="l"/>
              </a:tabLst>
            </a:pPr>
            <a:r>
              <a:rPr sz="2000" spc="-10" dirty="0">
                <a:latin typeface="Calibri"/>
                <a:cs typeface="Calibri"/>
              </a:rPr>
              <a:t>Despite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its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redundant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capabilities,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RAID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should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never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be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used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replacement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reliable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backups.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protect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natural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disaster,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567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Mirroring</a:t>
            </a:r>
            <a:r>
              <a:rPr sz="2800" spc="-7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28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(Continued)</a:t>
            </a:r>
            <a:endParaRPr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7712709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Mirroring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replicates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array.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member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disk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array.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failure,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remaining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disks.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3114624"/>
            <a:ext cx="4419600" cy="296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806372"/>
            <a:ext cx="788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Mirroring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9465"/>
            <a:ext cx="8073390" cy="392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79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Improved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by-</a:t>
            </a:r>
            <a:r>
              <a:rPr sz="1800" dirty="0">
                <a:latin typeface="Calibri"/>
                <a:cs typeface="Calibri"/>
              </a:rPr>
              <a:t>product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mirroring.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array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operating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normally,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failed,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parallel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mirror.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80000"/>
              </a:lnSpc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yield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performance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 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array.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two-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mirror</a:t>
            </a:r>
            <a:r>
              <a:rPr sz="1800" spc="1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could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yield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speeds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times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1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single </a:t>
            </a:r>
            <a:r>
              <a:rPr sz="1800" dirty="0">
                <a:latin typeface="Calibri"/>
                <a:cs typeface="Calibri"/>
              </a:rPr>
              <a:t>disk.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However,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practice,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probably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won’t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performance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that’s </a:t>
            </a:r>
            <a:r>
              <a:rPr sz="1800" dirty="0">
                <a:latin typeface="Calibri"/>
                <a:cs typeface="Calibri"/>
              </a:rPr>
              <a:t>quite</a:t>
            </a:r>
            <a:r>
              <a:rPr sz="1800" spc="24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2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dramatic.</a:t>
            </a:r>
            <a:r>
              <a:rPr sz="1800" spc="24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That’s</a:t>
            </a:r>
            <a:r>
              <a:rPr sz="1800" spc="2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because</a:t>
            </a:r>
            <a:r>
              <a:rPr sz="1800" spc="24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2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2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factors,</a:t>
            </a:r>
            <a:r>
              <a:rPr sz="1800" spc="24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including</a:t>
            </a:r>
            <a:r>
              <a:rPr sz="1800" spc="240" dirty="0">
                <a:latin typeface="Calibri"/>
                <a:cs typeface="Calibri"/>
              </a:rPr>
              <a:t>  </a:t>
            </a:r>
            <a:r>
              <a:rPr sz="1800" spc="-10" dirty="0">
                <a:latin typeface="Calibri"/>
                <a:cs typeface="Calibri"/>
              </a:rPr>
              <a:t>filesystem performance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distribution,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affect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throughput.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1800">
              <a:latin typeface="Calibri"/>
              <a:cs typeface="Calibri"/>
            </a:endParaRPr>
          </a:p>
          <a:p>
            <a:pPr marL="12700" marR="220979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But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expect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that’s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single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disk. </a:t>
            </a:r>
            <a:r>
              <a:rPr sz="1800" spc="-20" dirty="0">
                <a:latin typeface="Calibri"/>
                <a:cs typeface="Calibri"/>
              </a:rPr>
              <a:t>Unfortunately,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mirroring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written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twice—</a:t>
            </a:r>
            <a:r>
              <a:rPr sz="1800" dirty="0">
                <a:latin typeface="Calibri"/>
                <a:cs typeface="Calibri"/>
              </a:rPr>
              <a:t>once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each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array.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slightly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slower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compared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single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mirroring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array.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19041"/>
            <a:ext cx="121475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Parity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8072755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Parity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redundancy.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written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array,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written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separate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disk.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80"/>
              </a:spcBef>
              <a:tabLst>
                <a:tab pos="295910" algn="l"/>
                <a:tab pos="559435" algn="l"/>
                <a:tab pos="1219835" algn="l"/>
                <a:tab pos="1837055" algn="l"/>
                <a:tab pos="2324735" algn="l"/>
                <a:tab pos="3239135" algn="l"/>
                <a:tab pos="3838575" algn="l"/>
                <a:tab pos="4342765" algn="l"/>
                <a:tab pos="4743450" algn="l"/>
                <a:tab pos="6327775" algn="l"/>
                <a:tab pos="6967855" algn="l"/>
                <a:tab pos="7455534" algn="l"/>
              </a:tabLst>
            </a:pPr>
            <a:r>
              <a:rPr sz="2000" spc="-25" dirty="0">
                <a:latin typeface="Calibri"/>
                <a:cs typeface="Calibri"/>
              </a:rPr>
              <a:t>If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drive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fails,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original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data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can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be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reconstructed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from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parity information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remaining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4051" y="3500501"/>
            <a:ext cx="4587748" cy="1985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44496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Degraded</a:t>
            </a:r>
            <a:endParaRPr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797750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Degraded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describes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supports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redundancy,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more </a:t>
            </a:r>
            <a:r>
              <a:rPr sz="2000" dirty="0">
                <a:latin typeface="Calibri"/>
                <a:cs typeface="Calibri"/>
              </a:rPr>
              <a:t>failed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disks.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still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operational,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reliability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cases,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diminished.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degraded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 </a:t>
            </a:r>
            <a:r>
              <a:rPr sz="2000" dirty="0">
                <a:latin typeface="Calibri"/>
                <a:cs typeface="Calibri"/>
              </a:rPr>
              <a:t>additional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failure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usually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indicates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loss.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Calibri"/>
                <a:cs typeface="Calibri"/>
              </a:rPr>
              <a:t>Reconstruction,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spc="-20" dirty="0">
                <a:latin typeface="Calibri"/>
                <a:cs typeface="Calibri"/>
              </a:rPr>
              <a:t>resynchronization,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and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recovery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9465"/>
            <a:ext cx="7927975" cy="3812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When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degraded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array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replaced,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recovery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begins.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 marR="268605">
              <a:lnSpc>
                <a:spcPct val="80000"/>
              </a:lnSpc>
              <a:spcBef>
                <a:spcPts val="430"/>
              </a:spcBef>
            </a:pPr>
            <a:r>
              <a:rPr sz="1800" dirty="0">
                <a:latin typeface="Calibri"/>
                <a:cs typeface="Calibri"/>
              </a:rPr>
              <a:t>terms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reconstruction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resynchronization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recovery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rebuild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often</a:t>
            </a:r>
            <a:r>
              <a:rPr sz="1800" spc="-20" dirty="0">
                <a:latin typeface="Calibri"/>
                <a:cs typeface="Calibri"/>
              </a:rPr>
              <a:t> used </a:t>
            </a:r>
            <a:r>
              <a:rPr sz="1800" spc="-10" dirty="0">
                <a:latin typeface="Calibri"/>
                <a:cs typeface="Calibri"/>
              </a:rPr>
              <a:t>interchangeably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describe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recovery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recovery,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either </a:t>
            </a:r>
            <a:r>
              <a:rPr sz="1800" dirty="0">
                <a:latin typeface="Calibri"/>
                <a:cs typeface="Calibri"/>
              </a:rPr>
              <a:t>copied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verbatim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mirroring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reconstructed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parity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remaining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used).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800">
              <a:latin typeface="Calibri"/>
              <a:cs typeface="Calibri"/>
            </a:endParaRPr>
          </a:p>
          <a:p>
            <a:pPr marL="12700" marR="49530">
              <a:lnSpc>
                <a:spcPts val="1730"/>
              </a:lnSpc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recovery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usually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additional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strain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resources.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Recovery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automated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enough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 </a:t>
            </a:r>
            <a:r>
              <a:rPr sz="1800" dirty="0">
                <a:latin typeface="Calibri"/>
                <a:cs typeface="Calibri"/>
              </a:rPr>
              <a:t>(disks)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available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repair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array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without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intervention.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3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Whenever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redundant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array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created,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initial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recovery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performed.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45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synchronized.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RAID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45"/>
              </a:lnSpc>
            </a:pPr>
            <a:r>
              <a:rPr sz="1800" spc="-10" dirty="0">
                <a:latin typeface="Calibri"/>
                <a:cs typeface="Calibri"/>
              </a:rPr>
              <a:t>operations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indicate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09600"/>
            <a:ext cx="14541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Striping</a:t>
            </a:r>
            <a:endParaRPr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13434"/>
            <a:ext cx="7831455" cy="293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Striping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spread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across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disks.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fixed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amount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written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array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reused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until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equal </a:t>
            </a:r>
            <a:r>
              <a:rPr sz="1800" dirty="0">
                <a:latin typeface="Calibri"/>
                <a:cs typeface="Calibri"/>
              </a:rPr>
              <a:t>amount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written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array.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improved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because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written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libri"/>
                <a:cs typeface="Calibri"/>
              </a:rPr>
              <a:t>one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drive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>
              <a:latin typeface="Calibri"/>
              <a:cs typeface="Calibri"/>
            </a:endParaRPr>
          </a:p>
          <a:p>
            <a:pPr marL="12700" marR="99060" indent="514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Some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arrays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stripes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redundancy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parity. RAID-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striped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array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without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redundancy,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extremely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read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surviving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</a:t>
            </a:r>
            <a:r>
              <a:rPr sz="1800" spc="-25" dirty="0">
                <a:latin typeface="Calibri"/>
                <a:cs typeface="Calibri"/>
              </a:rPr>
              <a:t> of </a:t>
            </a:r>
            <a:r>
              <a:rPr sz="1800" spc="-10" dirty="0">
                <a:latin typeface="Calibri"/>
                <a:cs typeface="Calibri"/>
              </a:rPr>
              <a:t>arrays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striping.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8850" y="4190974"/>
            <a:ext cx="4019550" cy="22792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62000"/>
            <a:ext cx="7886700" cy="555407"/>
          </a:xfrm>
          <a:prstGeom prst="rect">
            <a:avLst/>
          </a:prstGeom>
        </p:spPr>
        <p:txBody>
          <a:bodyPr vert="horz" wrap="square" lIns="0" tIns="623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Linear</a:t>
            </a:r>
            <a:r>
              <a:rPr sz="3200" b="1" spc="-9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3200" b="1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Mode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3367"/>
            <a:ext cx="7877175" cy="276923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isn’t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technically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RAID,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it’s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Linux’s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RAID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subsystem.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together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appending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device’s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alibri"/>
                <a:cs typeface="Calibri"/>
              </a:rPr>
              <a:t>another’s.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neither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reliability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benefits,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quick</a:t>
            </a:r>
            <a:r>
              <a:rPr sz="1800" spc="-25" dirty="0">
                <a:latin typeface="Calibri"/>
                <a:cs typeface="Calibri"/>
              </a:rPr>
              <a:t> way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devices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filesystem.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main </a:t>
            </a:r>
            <a:r>
              <a:rPr sz="1800" spc="-10" dirty="0">
                <a:latin typeface="Calibri"/>
                <a:cs typeface="Calibri"/>
              </a:rPr>
              <a:t>advantage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partitions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unequal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without </a:t>
            </a:r>
            <a:r>
              <a:rPr sz="1800" dirty="0">
                <a:latin typeface="Calibri"/>
                <a:cs typeface="Calibri"/>
              </a:rPr>
              <a:t>losing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space;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RAID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equal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underlying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partitions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ignore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they’re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unequal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partitions.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540" y="826215"/>
            <a:ext cx="788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sz="2800" b="1" spc="-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sz="2800" b="1" spc="-3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(Striping)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4498340" cy="350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732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RAID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“striping”,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performance-</a:t>
            </a:r>
            <a:r>
              <a:rPr sz="2000" dirty="0">
                <a:latin typeface="Calibri"/>
                <a:cs typeface="Calibri"/>
              </a:rPr>
              <a:t>oriented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striped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</a:t>
            </a:r>
            <a:r>
              <a:rPr sz="2000" dirty="0">
                <a:latin typeface="Calibri"/>
                <a:cs typeface="Calibri"/>
              </a:rPr>
              <a:t>mapping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technique.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</a:t>
            </a:r>
            <a:r>
              <a:rPr sz="2000" dirty="0">
                <a:latin typeface="Calibri"/>
                <a:cs typeface="Calibri"/>
              </a:rPr>
              <a:t>being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written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broken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down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strips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written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across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member </a:t>
            </a:r>
            <a:r>
              <a:rPr sz="2000" dirty="0">
                <a:latin typeface="Calibri"/>
                <a:cs typeface="Calibri"/>
              </a:rPr>
              <a:t>disks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I/O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low </a:t>
            </a:r>
            <a:r>
              <a:rPr sz="2000" dirty="0">
                <a:latin typeface="Calibri"/>
                <a:cs typeface="Calibri"/>
              </a:rPr>
              <a:t>inherent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redundancy. </a:t>
            </a:r>
            <a:r>
              <a:rPr sz="2000" dirty="0">
                <a:latin typeface="Calibri"/>
                <a:cs typeface="Calibri"/>
              </a:rPr>
              <a:t>Storage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capacity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sum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capacity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member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disks.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1047750"/>
            <a:ext cx="3095625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92360"/>
            <a:ext cx="7886700" cy="510780"/>
          </a:xfrm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sz="2800" b="1"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sz="2800" b="1" spc="-3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(Mirroring)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89278"/>
            <a:ext cx="4720590" cy="46012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20"/>
              </a:spcBef>
            </a:pPr>
            <a:r>
              <a:rPr sz="1900" dirty="0">
                <a:latin typeface="Calibri"/>
                <a:cs typeface="Calibri"/>
              </a:rPr>
              <a:t>RAID</a:t>
            </a:r>
            <a:r>
              <a:rPr sz="1900" spc="4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level</a:t>
            </a:r>
            <a:r>
              <a:rPr sz="1900" spc="4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1,</a:t>
            </a:r>
            <a:r>
              <a:rPr sz="1900" spc="3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4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“mirroring”,</a:t>
            </a:r>
            <a:r>
              <a:rPr sz="1900" spc="5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4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been</a:t>
            </a:r>
            <a:r>
              <a:rPr sz="1900" spc="45" dirty="0">
                <a:latin typeface="Calibri"/>
                <a:cs typeface="Calibri"/>
              </a:rPr>
              <a:t>  </a:t>
            </a:r>
            <a:r>
              <a:rPr sz="1900" spc="-20" dirty="0">
                <a:latin typeface="Calibri"/>
                <a:cs typeface="Calibri"/>
              </a:rPr>
              <a:t>used </a:t>
            </a:r>
            <a:r>
              <a:rPr sz="1900" dirty="0">
                <a:latin typeface="Calibri"/>
                <a:cs typeface="Calibri"/>
              </a:rPr>
              <a:t>longer</a:t>
            </a:r>
            <a:r>
              <a:rPr sz="1900" spc="4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than</a:t>
            </a:r>
            <a:r>
              <a:rPr sz="1900" spc="3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4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other</a:t>
            </a:r>
            <a:r>
              <a:rPr sz="1900" spc="3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form</a:t>
            </a:r>
            <a:r>
              <a:rPr sz="1900" spc="3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3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RAID.</a:t>
            </a:r>
            <a:r>
              <a:rPr sz="1900" spc="3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Level</a:t>
            </a:r>
            <a:r>
              <a:rPr sz="1900" spc="40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1 </a:t>
            </a:r>
            <a:r>
              <a:rPr sz="1900" dirty="0">
                <a:latin typeface="Calibri"/>
                <a:cs typeface="Calibri"/>
              </a:rPr>
              <a:t>provides</a:t>
            </a:r>
            <a:r>
              <a:rPr sz="1900" spc="2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redundancy</a:t>
            </a:r>
            <a:r>
              <a:rPr sz="1900" spc="2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2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writing</a:t>
            </a:r>
            <a:r>
              <a:rPr sz="1900" spc="2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identical</a:t>
            </a:r>
            <a:r>
              <a:rPr sz="1900" spc="26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data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3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409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member</a:t>
            </a:r>
            <a:r>
              <a:rPr sz="1900" spc="409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4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3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409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array,</a:t>
            </a:r>
            <a:r>
              <a:rPr sz="1900" spc="4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leaving</a:t>
            </a:r>
            <a:r>
              <a:rPr sz="1900" spc="42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a </a:t>
            </a:r>
            <a:r>
              <a:rPr sz="1900" dirty="0">
                <a:latin typeface="Calibri"/>
                <a:cs typeface="Calibri"/>
              </a:rPr>
              <a:t>mirrored</a:t>
            </a:r>
            <a:r>
              <a:rPr sz="1900" spc="1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copy</a:t>
            </a:r>
            <a:r>
              <a:rPr sz="1900" spc="1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1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1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disk.</a:t>
            </a:r>
            <a:r>
              <a:rPr sz="1900" spc="11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Mirroring</a:t>
            </a:r>
            <a:r>
              <a:rPr sz="1900" spc="1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remains </a:t>
            </a:r>
            <a:r>
              <a:rPr sz="1900" dirty="0">
                <a:latin typeface="Calibri"/>
                <a:cs typeface="Calibri"/>
              </a:rPr>
              <a:t>popular</a:t>
            </a:r>
            <a:r>
              <a:rPr sz="1900" spc="2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due</a:t>
            </a:r>
            <a:r>
              <a:rPr sz="1900" spc="2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25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its</a:t>
            </a:r>
            <a:r>
              <a:rPr sz="1900" spc="2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simplicity</a:t>
            </a:r>
            <a:r>
              <a:rPr sz="1900" spc="2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25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high</a:t>
            </a:r>
            <a:r>
              <a:rPr sz="1900" spc="25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level</a:t>
            </a:r>
            <a:r>
              <a:rPr sz="1900" spc="2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availability.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900"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</a:pPr>
            <a:r>
              <a:rPr sz="1900" dirty="0">
                <a:latin typeface="Calibri"/>
                <a:cs typeface="Calibri"/>
              </a:rPr>
              <a:t>Level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operates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two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2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that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3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3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parallel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high</a:t>
            </a:r>
            <a:r>
              <a:rPr sz="1900" spc="32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data-</a:t>
            </a:r>
            <a:r>
              <a:rPr sz="1900" spc="-10" dirty="0">
                <a:latin typeface="Calibri"/>
                <a:cs typeface="Calibri"/>
              </a:rPr>
              <a:t>transfer </a:t>
            </a:r>
            <a:r>
              <a:rPr sz="1900" dirty="0">
                <a:latin typeface="Calibri"/>
                <a:cs typeface="Calibri"/>
              </a:rPr>
              <a:t>rates</a:t>
            </a:r>
            <a:r>
              <a:rPr sz="1900" spc="3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when</a:t>
            </a:r>
            <a:r>
              <a:rPr sz="1900" spc="30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reading,</a:t>
            </a:r>
            <a:r>
              <a:rPr sz="1900" spc="3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3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305" dirty="0">
                <a:latin typeface="Calibri"/>
                <a:cs typeface="Calibri"/>
              </a:rPr>
              <a:t>  </a:t>
            </a:r>
            <a:r>
              <a:rPr sz="1900" spc="-10" dirty="0">
                <a:latin typeface="Calibri"/>
                <a:cs typeface="Calibri"/>
              </a:rPr>
              <a:t>commonly </a:t>
            </a:r>
            <a:r>
              <a:rPr sz="1900" dirty="0">
                <a:latin typeface="Calibri"/>
                <a:cs typeface="Calibri"/>
              </a:rPr>
              <a:t>operate</a:t>
            </a:r>
            <a:r>
              <a:rPr sz="1900" spc="16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independently</a:t>
            </a:r>
            <a:r>
              <a:rPr sz="1900" spc="18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16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provide</a:t>
            </a:r>
            <a:r>
              <a:rPr sz="1900" spc="17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high</a:t>
            </a:r>
            <a:r>
              <a:rPr sz="1900" spc="170" dirty="0">
                <a:latin typeface="Calibri"/>
                <a:cs typeface="Calibri"/>
              </a:rPr>
              <a:t>  </a:t>
            </a:r>
            <a:r>
              <a:rPr sz="1900" spc="-25" dirty="0">
                <a:latin typeface="Calibri"/>
                <a:cs typeface="Calibri"/>
              </a:rPr>
              <a:t>I/O </a:t>
            </a:r>
            <a:r>
              <a:rPr sz="1900" dirty="0">
                <a:latin typeface="Calibri"/>
                <a:cs typeface="Calibri"/>
              </a:rPr>
              <a:t>transaction</a:t>
            </a:r>
            <a:r>
              <a:rPr sz="1900" spc="3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rates.</a:t>
            </a:r>
            <a:r>
              <a:rPr sz="1900" spc="3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Level</a:t>
            </a:r>
            <a:r>
              <a:rPr sz="1900" spc="3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3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provides</a:t>
            </a:r>
            <a:r>
              <a:rPr sz="1900" spc="3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very</a:t>
            </a:r>
            <a:r>
              <a:rPr sz="1900" spc="36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good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reliability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improves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performance</a:t>
            </a:r>
            <a:r>
              <a:rPr sz="1900" spc="31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for </a:t>
            </a:r>
            <a:r>
              <a:rPr sz="1900" spc="-20" dirty="0">
                <a:latin typeface="Calibri"/>
                <a:cs typeface="Calibri"/>
              </a:rPr>
              <a:t>read-</a:t>
            </a:r>
            <a:r>
              <a:rPr sz="1900" dirty="0">
                <a:latin typeface="Calibri"/>
                <a:cs typeface="Calibri"/>
              </a:rPr>
              <a:t>intensive</a:t>
            </a:r>
            <a:r>
              <a:rPr sz="1900" spc="4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applications</a:t>
            </a:r>
            <a:r>
              <a:rPr sz="1900" spc="409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409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3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4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relatively </a:t>
            </a:r>
            <a:r>
              <a:rPr sz="1900" dirty="0">
                <a:latin typeface="Calibri"/>
                <a:cs typeface="Calibri"/>
              </a:rPr>
              <a:t>high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cost.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Array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capacity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equal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capacity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smallest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member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disk.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1175" y="1047750"/>
            <a:ext cx="3095625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62000"/>
            <a:ext cx="7886700" cy="510780"/>
          </a:xfrm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RAID-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4:</a:t>
            </a:r>
            <a:r>
              <a:rPr sz="2800" b="1" spc="-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Dedicated</a:t>
            </a:r>
            <a:r>
              <a:rPr sz="2800" b="1" spc="-3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Parity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89278"/>
            <a:ext cx="4110990" cy="46012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20"/>
              </a:spcBef>
            </a:pPr>
            <a:r>
              <a:rPr sz="1900" dirty="0">
                <a:latin typeface="Calibri"/>
                <a:cs typeface="Calibri"/>
              </a:rPr>
              <a:t>Higher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levels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attempt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gain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benefits</a:t>
            </a:r>
            <a:r>
              <a:rPr sz="1900" spc="3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3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both</a:t>
            </a:r>
            <a:r>
              <a:rPr sz="1900" spc="3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3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</a:t>
            </a:r>
            <a:r>
              <a:rPr sz="1900" spc="3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3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3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1.</a:t>
            </a:r>
            <a:r>
              <a:rPr sz="1900" spc="3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In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6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4,</a:t>
            </a:r>
            <a:r>
              <a:rPr sz="1900" spc="6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7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6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striped</a:t>
            </a:r>
            <a:r>
              <a:rPr sz="1900" spc="7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7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65" dirty="0">
                <a:latin typeface="Calibri"/>
                <a:cs typeface="Calibri"/>
              </a:rPr>
              <a:t>  </a:t>
            </a:r>
            <a:r>
              <a:rPr sz="1900" spc="-10" dirty="0">
                <a:latin typeface="Calibri"/>
                <a:cs typeface="Calibri"/>
              </a:rPr>
              <a:t>manner </a:t>
            </a:r>
            <a:r>
              <a:rPr sz="1900" dirty="0">
                <a:latin typeface="Calibri"/>
                <a:cs typeface="Calibri"/>
              </a:rPr>
              <a:t>similar</a:t>
            </a:r>
            <a:r>
              <a:rPr sz="1900" spc="22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229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229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0;</a:t>
            </a:r>
            <a:r>
              <a:rPr sz="1900" spc="229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229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229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drive</a:t>
            </a:r>
            <a:r>
              <a:rPr sz="1900" spc="240" dirty="0">
                <a:latin typeface="Calibri"/>
                <a:cs typeface="Calibri"/>
              </a:rPr>
              <a:t>  </a:t>
            </a:r>
            <a:r>
              <a:rPr sz="1900" spc="-25" dirty="0">
                <a:latin typeface="Calibri"/>
                <a:cs typeface="Calibri"/>
              </a:rPr>
              <a:t>is </a:t>
            </a:r>
            <a:r>
              <a:rPr sz="1900" dirty="0">
                <a:latin typeface="Calibri"/>
                <a:cs typeface="Calibri"/>
              </a:rPr>
              <a:t>dedicated</a:t>
            </a:r>
            <a:r>
              <a:rPr sz="1900" spc="4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4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holding</a:t>
            </a:r>
            <a:r>
              <a:rPr sz="1900" spc="4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checksum</a:t>
            </a:r>
            <a:r>
              <a:rPr sz="1900" spc="4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data.</a:t>
            </a:r>
            <a:r>
              <a:rPr sz="1900" spc="39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If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fails,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checksum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can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regenerate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900">
              <a:latin typeface="Calibri"/>
              <a:cs typeface="Calibri"/>
            </a:endParaRPr>
          </a:p>
          <a:p>
            <a:pPr marL="12700" marR="6350" algn="just">
              <a:lnSpc>
                <a:spcPct val="90000"/>
              </a:lnSpc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2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checksum</a:t>
            </a:r>
            <a:r>
              <a:rPr sz="1900" spc="1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drive</a:t>
            </a:r>
            <a:r>
              <a:rPr sz="1900" spc="2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</a:t>
            </a:r>
            <a:r>
              <a:rPr sz="1900" spc="20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204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contribute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6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7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overall</a:t>
            </a:r>
            <a:r>
              <a:rPr sz="1900" spc="7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amount</a:t>
            </a:r>
            <a:r>
              <a:rPr sz="1900" spc="7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6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65" dirty="0">
                <a:latin typeface="Calibri"/>
                <a:cs typeface="Calibri"/>
              </a:rPr>
              <a:t>  </a:t>
            </a:r>
            <a:r>
              <a:rPr sz="1900" spc="-10" dirty="0">
                <a:latin typeface="Calibri"/>
                <a:cs typeface="Calibri"/>
              </a:rPr>
              <a:t>stored; </a:t>
            </a:r>
            <a:r>
              <a:rPr sz="1900" dirty="0">
                <a:latin typeface="Calibri"/>
                <a:cs typeface="Calibri"/>
              </a:rPr>
              <a:t>essentially,</a:t>
            </a:r>
            <a:r>
              <a:rPr sz="1900" spc="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identically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sized </a:t>
            </a:r>
            <a:r>
              <a:rPr sz="1900" dirty="0">
                <a:latin typeface="Calibri"/>
                <a:cs typeface="Calibri"/>
              </a:rPr>
              <a:t>disks,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store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amount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–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1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</a:t>
            </a:r>
            <a:r>
              <a:rPr sz="1900" spc="1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1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size</a:t>
            </a:r>
            <a:r>
              <a:rPr sz="1900" spc="1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18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a </a:t>
            </a:r>
            <a:r>
              <a:rPr sz="1900" spc="-20" dirty="0">
                <a:latin typeface="Calibri"/>
                <a:cs typeface="Calibri"/>
              </a:rPr>
              <a:t>non-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3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3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3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</a:t>
            </a:r>
            <a:r>
              <a:rPr sz="1900" spc="3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configuration.</a:t>
            </a:r>
            <a:r>
              <a:rPr sz="1900" spc="3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34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a </a:t>
            </a:r>
            <a:r>
              <a:rPr sz="1900" dirty="0">
                <a:latin typeface="Calibri"/>
                <a:cs typeface="Calibri"/>
              </a:rPr>
              <a:t>practical</a:t>
            </a:r>
            <a:r>
              <a:rPr sz="1900" spc="1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matter,</a:t>
            </a:r>
            <a:r>
              <a:rPr sz="1900" spc="1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1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</a:t>
            </a:r>
            <a:r>
              <a:rPr sz="1900" spc="1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1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least</a:t>
            </a:r>
            <a:r>
              <a:rPr sz="1900" spc="1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three </a:t>
            </a:r>
            <a:r>
              <a:rPr sz="1900" dirty="0">
                <a:latin typeface="Calibri"/>
                <a:cs typeface="Calibri"/>
              </a:rPr>
              <a:t>identically</a:t>
            </a:r>
            <a:r>
              <a:rPr sz="1900" spc="10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sized</a:t>
            </a:r>
            <a:r>
              <a:rPr sz="1900" spc="10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disks</a:t>
            </a:r>
            <a:r>
              <a:rPr sz="1900" spc="1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1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implement</a:t>
            </a:r>
            <a:r>
              <a:rPr sz="1900" spc="110" dirty="0">
                <a:latin typeface="Calibri"/>
                <a:cs typeface="Calibri"/>
              </a:rPr>
              <a:t>  </a:t>
            </a:r>
            <a:r>
              <a:rPr sz="1900" spc="-50" dirty="0">
                <a:latin typeface="Calibri"/>
                <a:cs typeface="Calibri"/>
              </a:rPr>
              <a:t>a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4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539" y="1828800"/>
            <a:ext cx="4423409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62000"/>
            <a:ext cx="788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RAID-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5:</a:t>
            </a:r>
            <a:r>
              <a:rPr sz="2800" b="1" spc="-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</a:t>
            </a:r>
            <a:r>
              <a:rPr sz="2800" b="1" spc="-5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Parity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8234"/>
            <a:ext cx="4034790" cy="2342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This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form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works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just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like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4, </a:t>
            </a:r>
            <a:r>
              <a:rPr sz="1900" dirty="0">
                <a:latin typeface="Calibri"/>
                <a:cs typeface="Calibri"/>
              </a:rPr>
              <a:t>except</a:t>
            </a:r>
            <a:r>
              <a:rPr sz="1900" spc="235" dirty="0">
                <a:latin typeface="Calibri"/>
                <a:cs typeface="Calibri"/>
              </a:rPr>
              <a:t>  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235" dirty="0">
                <a:latin typeface="Calibri"/>
                <a:cs typeface="Calibri"/>
              </a:rPr>
              <a:t>   </a:t>
            </a:r>
            <a:r>
              <a:rPr sz="1900" dirty="0">
                <a:latin typeface="Calibri"/>
                <a:cs typeface="Calibri"/>
              </a:rPr>
              <a:t>there’s</a:t>
            </a:r>
            <a:r>
              <a:rPr sz="1900" spc="240" dirty="0">
                <a:latin typeface="Calibri"/>
                <a:cs typeface="Calibri"/>
              </a:rPr>
              <a:t>   </a:t>
            </a:r>
            <a:r>
              <a:rPr sz="1900" dirty="0">
                <a:latin typeface="Calibri"/>
                <a:cs typeface="Calibri"/>
              </a:rPr>
              <a:t>no</a:t>
            </a:r>
            <a:r>
              <a:rPr sz="1900" spc="235" dirty="0">
                <a:latin typeface="Calibri"/>
                <a:cs typeface="Calibri"/>
              </a:rPr>
              <a:t>   </a:t>
            </a:r>
            <a:r>
              <a:rPr sz="1900" spc="-10" dirty="0">
                <a:latin typeface="Calibri"/>
                <a:cs typeface="Calibri"/>
              </a:rPr>
              <a:t>dedicated </a:t>
            </a:r>
            <a:r>
              <a:rPr sz="1900" dirty="0">
                <a:latin typeface="Calibri"/>
                <a:cs typeface="Calibri"/>
              </a:rPr>
              <a:t>checksum</a:t>
            </a:r>
            <a:r>
              <a:rPr sz="1900" spc="2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drive;</a:t>
            </a:r>
            <a:r>
              <a:rPr sz="1900" spc="2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instead,</a:t>
            </a:r>
            <a:r>
              <a:rPr sz="1900" spc="3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checksum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2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interleaved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2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2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</a:t>
            </a:r>
            <a:r>
              <a:rPr sz="1900" spc="27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in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array.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5’s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size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computations</a:t>
            </a:r>
            <a:r>
              <a:rPr sz="1900" spc="-25" dirty="0">
                <a:latin typeface="Calibri"/>
                <a:cs typeface="Calibri"/>
              </a:rPr>
              <a:t> are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11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those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1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11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4;</a:t>
            </a:r>
            <a:r>
              <a:rPr sz="1900" spc="1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114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need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3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minimum</a:t>
            </a:r>
            <a:r>
              <a:rPr sz="1900" spc="3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3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three</a:t>
            </a:r>
            <a:r>
              <a:rPr sz="1900" spc="3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disks,</a:t>
            </a:r>
            <a:r>
              <a:rPr sz="1900" spc="3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3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3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disks </a:t>
            </a:r>
            <a:r>
              <a:rPr sz="1900" dirty="0">
                <a:latin typeface="Calibri"/>
                <a:cs typeface="Calibri"/>
              </a:rPr>
              <a:t>hold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–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worth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data.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1733550"/>
            <a:ext cx="4449064" cy="3295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62843"/>
            <a:ext cx="7886700" cy="510780"/>
          </a:xfrm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sz="2800" b="1" spc="-7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8234"/>
            <a:ext cx="7533005" cy="951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combination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0,</a:t>
            </a:r>
            <a:r>
              <a:rPr sz="1900" spc="-20" dirty="0">
                <a:latin typeface="Calibri"/>
                <a:cs typeface="Calibri"/>
              </a:rPr>
              <a:t> referred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10,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provides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benefits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similar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those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4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5.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900" dirty="0">
                <a:latin typeface="Calibri"/>
                <a:cs typeface="Calibri"/>
              </a:rPr>
              <a:t>Linux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provides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explicit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support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combination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simplify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configuration.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2714675"/>
            <a:ext cx="4295775" cy="37291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14400"/>
            <a:ext cx="788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</a:t>
            </a:r>
            <a:r>
              <a:rPr sz="2800" b="1" spc="-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sz="2800" b="1" spc="-9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Software?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8234"/>
            <a:ext cx="7977505" cy="216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Calibri"/>
                <a:cs typeface="Calibri"/>
              </a:rPr>
              <a:t>RAID,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like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many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other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computer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technologies,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divided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two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camps: hardware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software.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Software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computer’s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CPU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perform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RAID </a:t>
            </a:r>
            <a:r>
              <a:rPr sz="1900" spc="-10" dirty="0">
                <a:latin typeface="Calibri"/>
                <a:cs typeface="Calibri"/>
              </a:rPr>
              <a:t>operations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implemented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kernel.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900">
              <a:latin typeface="Calibri"/>
              <a:cs typeface="Calibri"/>
            </a:endParaRPr>
          </a:p>
          <a:p>
            <a:pPr marL="12700" marR="159385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Hardware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specialized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processors,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usually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found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controllers,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perform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array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management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functions.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choice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software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spc="-10" dirty="0">
                <a:latin typeface="Calibri"/>
                <a:cs typeface="Calibri"/>
              </a:rPr>
              <a:t>hardware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first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decision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make.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62000"/>
            <a:ext cx="788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sz="2800" b="1" spc="-8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(Kernel-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Managed)</a:t>
            </a:r>
            <a:r>
              <a:rPr sz="28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8234"/>
            <a:ext cx="4491990" cy="2052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Software</a:t>
            </a:r>
            <a:r>
              <a:rPr sz="1900" spc="3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29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means</a:t>
            </a:r>
            <a:r>
              <a:rPr sz="1900" spc="3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29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29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array</a:t>
            </a:r>
            <a:r>
              <a:rPr sz="1900" spc="295" dirty="0">
                <a:latin typeface="Calibri"/>
                <a:cs typeface="Calibri"/>
              </a:rPr>
              <a:t>  </a:t>
            </a:r>
            <a:r>
              <a:rPr sz="1900" spc="-25" dirty="0">
                <a:latin typeface="Calibri"/>
                <a:cs typeface="Calibri"/>
              </a:rPr>
              <a:t>is </a:t>
            </a:r>
            <a:r>
              <a:rPr sz="1900" dirty="0">
                <a:latin typeface="Calibri"/>
                <a:cs typeface="Calibri"/>
              </a:rPr>
              <a:t>managed</a:t>
            </a:r>
            <a:r>
              <a:rPr sz="1900" spc="21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21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21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kernel,</a:t>
            </a:r>
            <a:r>
              <a:rPr sz="1900" spc="21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rather</a:t>
            </a:r>
            <a:r>
              <a:rPr sz="1900" spc="21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than</a:t>
            </a:r>
            <a:r>
              <a:rPr sz="1900" spc="215" dirty="0">
                <a:latin typeface="Calibri"/>
                <a:cs typeface="Calibri"/>
              </a:rPr>
              <a:t>  </a:t>
            </a:r>
            <a:r>
              <a:rPr sz="1900" spc="-25" dirty="0">
                <a:latin typeface="Calibri"/>
                <a:cs typeface="Calibri"/>
              </a:rPr>
              <a:t>by </a:t>
            </a:r>
            <a:r>
              <a:rPr sz="1900" dirty="0">
                <a:latin typeface="Calibri"/>
                <a:cs typeface="Calibri"/>
              </a:rPr>
              <a:t>specialized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hardware.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kernel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keeps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track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organize</a:t>
            </a:r>
            <a:r>
              <a:rPr sz="1900" spc="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many</a:t>
            </a:r>
            <a:r>
              <a:rPr sz="1900" spc="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while </a:t>
            </a:r>
            <a:r>
              <a:rPr sz="1900" dirty="0">
                <a:latin typeface="Calibri"/>
                <a:cs typeface="Calibri"/>
              </a:rPr>
              <a:t>presenting</a:t>
            </a:r>
            <a:r>
              <a:rPr sz="1900" spc="1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10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10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single</a:t>
            </a:r>
            <a:r>
              <a:rPr sz="1900" spc="10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virtual</a:t>
            </a:r>
            <a:r>
              <a:rPr sz="1900" spc="10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device</a:t>
            </a:r>
            <a:r>
              <a:rPr sz="1900" spc="100" dirty="0">
                <a:latin typeface="Calibri"/>
                <a:cs typeface="Calibri"/>
              </a:rPr>
              <a:t> 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applications.</a:t>
            </a:r>
            <a:r>
              <a:rPr sz="1900" spc="4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4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virtual</a:t>
            </a:r>
            <a:r>
              <a:rPr sz="1900" spc="4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device</a:t>
            </a:r>
            <a:r>
              <a:rPr sz="1900" spc="3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works</a:t>
            </a:r>
            <a:r>
              <a:rPr sz="1900" spc="35" dirty="0">
                <a:latin typeface="Calibri"/>
                <a:cs typeface="Calibri"/>
              </a:rPr>
              <a:t>  </a:t>
            </a:r>
            <a:r>
              <a:rPr sz="1900" spc="-20" dirty="0">
                <a:latin typeface="Calibri"/>
                <a:cs typeface="Calibri"/>
              </a:rPr>
              <a:t>just </a:t>
            </a:r>
            <a:r>
              <a:rPr sz="1900" dirty="0">
                <a:latin typeface="Calibri"/>
                <a:cs typeface="Calibri"/>
              </a:rPr>
              <a:t>like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normal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fixed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disk.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1447761"/>
            <a:ext cx="3276600" cy="48814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89656"/>
            <a:ext cx="7886700" cy="510780"/>
          </a:xfrm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</a:t>
            </a:r>
            <a:r>
              <a:rPr sz="2800" b="1" spc="-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9465"/>
            <a:ext cx="4795520" cy="4650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45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Large-</a:t>
            </a:r>
            <a:r>
              <a:rPr sz="1800" dirty="0">
                <a:latin typeface="Calibri"/>
                <a:cs typeface="Calibri"/>
              </a:rPr>
              <a:t>scale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expensive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solutions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730"/>
              </a:lnSpc>
            </a:pP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typically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730"/>
              </a:lnSpc>
            </a:pPr>
            <a:r>
              <a:rPr sz="1800" dirty="0">
                <a:latin typeface="Calibri"/>
                <a:cs typeface="Calibri"/>
              </a:rPr>
              <a:t>don’t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additional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CPU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overhead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45"/>
              </a:lnSpc>
            </a:pPr>
            <a:r>
              <a:rPr sz="1800" spc="-10" dirty="0">
                <a:latin typeface="Calibri"/>
                <a:cs typeface="Calibri"/>
              </a:rPr>
              <a:t>arrays.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800">
              <a:latin typeface="Calibri"/>
              <a:cs typeface="Calibri"/>
            </a:endParaRPr>
          </a:p>
          <a:p>
            <a:pPr marL="12700" marR="42545">
              <a:lnSpc>
                <a:spcPct val="8000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Some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controllers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internally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support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RAID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manage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without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help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CPU.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These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cards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handle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functions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present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standard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block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device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Linux.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80000"/>
              </a:lnSpc>
            </a:pPr>
            <a:r>
              <a:rPr sz="1900" spc="-10" dirty="0">
                <a:latin typeface="Calibri"/>
                <a:cs typeface="Calibri"/>
              </a:rPr>
              <a:t>Hardware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cards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usually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contain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onboard </a:t>
            </a:r>
            <a:r>
              <a:rPr sz="1900" dirty="0">
                <a:latin typeface="Calibri"/>
                <a:cs typeface="Calibri"/>
              </a:rPr>
              <a:t>BIOS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provides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management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tools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for </a:t>
            </a:r>
            <a:r>
              <a:rPr sz="1900" spc="-10" dirty="0">
                <a:latin typeface="Calibri"/>
                <a:cs typeface="Calibri"/>
              </a:rPr>
              <a:t>configuring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maintaining arrays.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Software packages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run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level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usually provided</a:t>
            </a:r>
            <a:r>
              <a:rPr sz="1900" dirty="0">
                <a:latin typeface="Calibri"/>
                <a:cs typeface="Calibri"/>
              </a:rPr>
              <a:t> as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means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post-</a:t>
            </a:r>
            <a:r>
              <a:rPr sz="1900" spc="-10" dirty="0">
                <a:latin typeface="Calibri"/>
                <a:cs typeface="Calibri"/>
              </a:rPr>
              <a:t>installation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 management.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allows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administrators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spc="-10" dirty="0">
                <a:latin typeface="Calibri"/>
                <a:cs typeface="Calibri"/>
              </a:rPr>
              <a:t>maintain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devices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without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rebooting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system.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1600161"/>
            <a:ext cx="3581400" cy="43127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2000"/>
            <a:ext cx="7886700" cy="495391"/>
          </a:xfrm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sz="2800" b="1" spc="-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  <a:r>
              <a:rPr sz="28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8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Studies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6104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890"/>
              </a:spcBef>
            </a:pPr>
            <a:r>
              <a:rPr sz="1900" b="1" dirty="0">
                <a:latin typeface="Calibri"/>
                <a:cs typeface="Calibri"/>
              </a:rPr>
              <a:t>What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Should</a:t>
            </a:r>
            <a:r>
              <a:rPr sz="1900" b="1" spc="-3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Choose?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900" dirty="0"/>
              <a:t>Choosing</a:t>
            </a:r>
            <a:r>
              <a:rPr sz="1900" spc="-40" dirty="0"/>
              <a:t> </a:t>
            </a:r>
            <a:r>
              <a:rPr sz="1900" dirty="0"/>
              <a:t>an</a:t>
            </a:r>
            <a:r>
              <a:rPr sz="1900" spc="-55" dirty="0"/>
              <a:t> </a:t>
            </a:r>
            <a:r>
              <a:rPr sz="1900" spc="-10" dirty="0"/>
              <a:t>architecture</a:t>
            </a:r>
            <a:r>
              <a:rPr sz="1900" spc="-40" dirty="0"/>
              <a:t> </a:t>
            </a:r>
            <a:r>
              <a:rPr sz="1900" dirty="0"/>
              <a:t>can</a:t>
            </a:r>
            <a:r>
              <a:rPr sz="1900" spc="-60" dirty="0"/>
              <a:t> </a:t>
            </a:r>
            <a:r>
              <a:rPr sz="1900" dirty="0"/>
              <a:t>be</a:t>
            </a:r>
            <a:r>
              <a:rPr sz="1900" spc="-55" dirty="0"/>
              <a:t> </a:t>
            </a:r>
            <a:r>
              <a:rPr sz="1900" spc="-10" dirty="0"/>
              <a:t>extremely</a:t>
            </a:r>
            <a:r>
              <a:rPr sz="1900" spc="-40" dirty="0"/>
              <a:t> </a:t>
            </a:r>
            <a:r>
              <a:rPr sz="1900" dirty="0"/>
              <a:t>difficult.</a:t>
            </a:r>
            <a:r>
              <a:rPr sz="1900" spc="-50" dirty="0"/>
              <a:t> </a:t>
            </a:r>
            <a:r>
              <a:rPr sz="1900" spc="-10" dirty="0"/>
              <a:t>Trying</a:t>
            </a:r>
            <a:r>
              <a:rPr sz="1900" spc="-45" dirty="0"/>
              <a:t> </a:t>
            </a:r>
            <a:r>
              <a:rPr sz="1900" dirty="0"/>
              <a:t>to</a:t>
            </a:r>
            <a:r>
              <a:rPr sz="1900" spc="-50" dirty="0"/>
              <a:t> </a:t>
            </a:r>
            <a:r>
              <a:rPr sz="1900" dirty="0"/>
              <a:t>connect</a:t>
            </a:r>
            <a:r>
              <a:rPr sz="1900" spc="-50" dirty="0"/>
              <a:t> </a:t>
            </a:r>
            <a:r>
              <a:rPr sz="1900" dirty="0"/>
              <a:t>a</a:t>
            </a:r>
            <a:r>
              <a:rPr sz="1900" spc="-60" dirty="0"/>
              <a:t> </a:t>
            </a:r>
            <a:r>
              <a:rPr sz="1900" spc="-10" dirty="0"/>
              <a:t>specific</a:t>
            </a:r>
            <a:endParaRPr sz="1900"/>
          </a:p>
          <a:p>
            <a:pPr marL="12700" marR="5080">
              <a:lnSpc>
                <a:spcPct val="100000"/>
              </a:lnSpc>
              <a:spcBef>
                <a:spcPts val="455"/>
              </a:spcBef>
            </a:pPr>
            <a:r>
              <a:rPr sz="1900" dirty="0"/>
              <a:t>technology</a:t>
            </a:r>
            <a:r>
              <a:rPr sz="1900" spc="-15" dirty="0"/>
              <a:t> </a:t>
            </a:r>
            <a:r>
              <a:rPr sz="1900" dirty="0"/>
              <a:t>to</a:t>
            </a:r>
            <a:r>
              <a:rPr sz="1900" spc="-35" dirty="0"/>
              <a:t> </a:t>
            </a:r>
            <a:r>
              <a:rPr sz="1900" dirty="0"/>
              <a:t>a</a:t>
            </a:r>
            <a:r>
              <a:rPr sz="1900" spc="-40" dirty="0"/>
              <a:t> </a:t>
            </a:r>
            <a:r>
              <a:rPr sz="1900" dirty="0"/>
              <a:t>specific</a:t>
            </a:r>
            <a:r>
              <a:rPr sz="1900" spc="-45" dirty="0"/>
              <a:t> </a:t>
            </a:r>
            <a:r>
              <a:rPr sz="1900" spc="-10" dirty="0"/>
              <a:t>application</a:t>
            </a:r>
            <a:r>
              <a:rPr sz="1900" spc="-30" dirty="0"/>
              <a:t> </a:t>
            </a:r>
            <a:r>
              <a:rPr sz="1900" dirty="0"/>
              <a:t>is</a:t>
            </a:r>
            <a:r>
              <a:rPr sz="1900" spc="-55" dirty="0"/>
              <a:t> </a:t>
            </a:r>
            <a:r>
              <a:rPr sz="1900" dirty="0"/>
              <a:t>one</a:t>
            </a:r>
            <a:r>
              <a:rPr sz="1900" spc="-40" dirty="0"/>
              <a:t> </a:t>
            </a:r>
            <a:r>
              <a:rPr sz="1900" dirty="0"/>
              <a:t>of</a:t>
            </a:r>
            <a:r>
              <a:rPr sz="1900" spc="-45" dirty="0"/>
              <a:t> </a:t>
            </a:r>
            <a:r>
              <a:rPr sz="1900" dirty="0"/>
              <a:t>the</a:t>
            </a:r>
            <a:r>
              <a:rPr sz="1900" spc="-35" dirty="0"/>
              <a:t> </a:t>
            </a:r>
            <a:r>
              <a:rPr sz="1900" spc="-10" dirty="0"/>
              <a:t>hardest</a:t>
            </a:r>
            <a:r>
              <a:rPr sz="1900" spc="-45" dirty="0"/>
              <a:t> </a:t>
            </a:r>
            <a:r>
              <a:rPr sz="1900" dirty="0"/>
              <a:t>tasks</a:t>
            </a:r>
            <a:r>
              <a:rPr sz="1900" spc="-55" dirty="0"/>
              <a:t> </a:t>
            </a:r>
            <a:r>
              <a:rPr sz="1900" dirty="0"/>
              <a:t>that</a:t>
            </a:r>
            <a:r>
              <a:rPr sz="1900" spc="-45" dirty="0"/>
              <a:t> </a:t>
            </a:r>
            <a:r>
              <a:rPr sz="1900" spc="-10" dirty="0"/>
              <a:t>system administrators</a:t>
            </a:r>
            <a:r>
              <a:rPr sz="1900" spc="-40" dirty="0"/>
              <a:t> </a:t>
            </a:r>
            <a:r>
              <a:rPr sz="1900" dirty="0"/>
              <a:t>face.</a:t>
            </a:r>
            <a:r>
              <a:rPr sz="1900" spc="-65" dirty="0"/>
              <a:t> </a:t>
            </a:r>
            <a:r>
              <a:rPr sz="1900" dirty="0"/>
              <a:t>Below</a:t>
            </a:r>
            <a:r>
              <a:rPr sz="1900" spc="-30" dirty="0"/>
              <a:t> </a:t>
            </a:r>
            <a:r>
              <a:rPr sz="1900" dirty="0"/>
              <a:t>are</a:t>
            </a:r>
            <a:r>
              <a:rPr sz="1900" spc="-50" dirty="0"/>
              <a:t> </a:t>
            </a:r>
            <a:r>
              <a:rPr sz="1900" dirty="0"/>
              <a:t>some</a:t>
            </a:r>
            <a:r>
              <a:rPr sz="1900" spc="-60" dirty="0"/>
              <a:t> </a:t>
            </a:r>
            <a:r>
              <a:rPr sz="1900" spc="-10" dirty="0"/>
              <a:t>examples</a:t>
            </a:r>
            <a:r>
              <a:rPr sz="1900" spc="-50" dirty="0"/>
              <a:t> </a:t>
            </a:r>
            <a:r>
              <a:rPr sz="1900" dirty="0"/>
              <a:t>of</a:t>
            </a:r>
            <a:r>
              <a:rPr sz="1900" spc="-60" dirty="0"/>
              <a:t> </a:t>
            </a:r>
            <a:r>
              <a:rPr sz="1900" dirty="0"/>
              <a:t>where</a:t>
            </a:r>
            <a:r>
              <a:rPr sz="1900" spc="-40" dirty="0"/>
              <a:t> </a:t>
            </a:r>
            <a:r>
              <a:rPr sz="1900" dirty="0"/>
              <a:t>RAID</a:t>
            </a:r>
            <a:r>
              <a:rPr sz="1900" spc="-45" dirty="0"/>
              <a:t> </a:t>
            </a:r>
            <a:r>
              <a:rPr sz="1900" dirty="0"/>
              <a:t>is</a:t>
            </a:r>
            <a:r>
              <a:rPr sz="1900" spc="-65" dirty="0"/>
              <a:t> </a:t>
            </a:r>
            <a:r>
              <a:rPr sz="1900" dirty="0"/>
              <a:t>useful</a:t>
            </a:r>
            <a:r>
              <a:rPr sz="1900" spc="-60" dirty="0"/>
              <a:t> </a:t>
            </a:r>
            <a:r>
              <a:rPr sz="1900" dirty="0"/>
              <a:t>in</a:t>
            </a:r>
            <a:r>
              <a:rPr sz="1900" spc="-55" dirty="0"/>
              <a:t> </a:t>
            </a:r>
            <a:r>
              <a:rPr sz="1900" dirty="0"/>
              <a:t>the</a:t>
            </a:r>
            <a:r>
              <a:rPr sz="1900" spc="-50" dirty="0"/>
              <a:t> </a:t>
            </a:r>
            <a:r>
              <a:rPr sz="1900" spc="-20" dirty="0"/>
              <a:t>real </a:t>
            </a:r>
            <a:r>
              <a:rPr sz="1900" spc="-10" dirty="0"/>
              <a:t>world.</a:t>
            </a:r>
            <a:endParaRPr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Case</a:t>
            </a:r>
            <a:r>
              <a:rPr sz="2800" spc="-45" dirty="0"/>
              <a:t> </a:t>
            </a:r>
            <a:r>
              <a:rPr sz="2800" dirty="0"/>
              <a:t>1:</a:t>
            </a:r>
            <a:r>
              <a:rPr sz="2800" spc="-45" dirty="0"/>
              <a:t> </a:t>
            </a:r>
            <a:r>
              <a:rPr sz="2800" dirty="0"/>
              <a:t>HTTP</a:t>
            </a:r>
            <a:r>
              <a:rPr sz="2800" spc="-55" dirty="0"/>
              <a:t> </a:t>
            </a:r>
            <a:r>
              <a:rPr sz="2800" dirty="0"/>
              <a:t>Image</a:t>
            </a:r>
            <a:r>
              <a:rPr sz="2800" spc="-60" dirty="0"/>
              <a:t> </a:t>
            </a:r>
            <a:r>
              <a:rPr sz="2800" spc="-10" dirty="0"/>
              <a:t>Server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589278"/>
            <a:ext cx="8034020" cy="42837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65405">
              <a:lnSpc>
                <a:spcPct val="90000"/>
              </a:lnSpc>
              <a:spcBef>
                <a:spcPts val="320"/>
              </a:spcBef>
            </a:pPr>
            <a:r>
              <a:rPr sz="1900" dirty="0">
                <a:latin typeface="Calibri"/>
                <a:cs typeface="Calibri"/>
              </a:rPr>
              <a:t>Because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RAID-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supports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parallel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reads,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makes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great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HTTP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server. </a:t>
            </a:r>
            <a:r>
              <a:rPr sz="1900" dirty="0">
                <a:latin typeface="Calibri"/>
                <a:cs typeface="Calibri"/>
              </a:rPr>
              <a:t>Companies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sell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products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online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provide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product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photos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web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surfers </a:t>
            </a:r>
            <a:r>
              <a:rPr sz="1900" dirty="0">
                <a:latin typeface="Calibri"/>
                <a:cs typeface="Calibri"/>
              </a:rPr>
              <a:t>could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RAID-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serve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images.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Images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static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content,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scenario, 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likely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quite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written.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Although</a:t>
            </a:r>
            <a:r>
              <a:rPr sz="1900" spc="-25" dirty="0">
                <a:latin typeface="Calibri"/>
                <a:cs typeface="Calibri"/>
              </a:rPr>
              <a:t> new </a:t>
            </a:r>
            <a:r>
              <a:rPr sz="1900" dirty="0">
                <a:latin typeface="Calibri"/>
                <a:cs typeface="Calibri"/>
              </a:rPr>
              <a:t>product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photos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frequently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added,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written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once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web </a:t>
            </a:r>
            <a:r>
              <a:rPr sz="1900" spc="-20" dirty="0">
                <a:latin typeface="Calibri"/>
                <a:cs typeface="Calibri"/>
              </a:rPr>
              <a:t>developer,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whereas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viewed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thousands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times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potential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customers.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900">
              <a:latin typeface="Calibri"/>
              <a:cs typeface="Calibri"/>
            </a:endParaRPr>
          </a:p>
          <a:p>
            <a:pPr marL="12700" marR="5080" indent="53340">
              <a:lnSpc>
                <a:spcPct val="89900"/>
              </a:lnSpc>
            </a:pPr>
            <a:r>
              <a:rPr sz="1900" spc="-10" dirty="0">
                <a:latin typeface="Calibri"/>
                <a:cs typeface="Calibri"/>
              </a:rPr>
              <a:t>Parallel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performance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RAID-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helps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facilitate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number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hits,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write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performance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RAID-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largely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irrelevant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because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writes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are </a:t>
            </a:r>
            <a:r>
              <a:rPr sz="1900" spc="-10" dirty="0">
                <a:latin typeface="Calibri"/>
                <a:cs typeface="Calibri"/>
              </a:rPr>
              <a:t>infrequent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900">
              <a:latin typeface="Calibri"/>
              <a:cs typeface="Calibri"/>
            </a:endParaRPr>
          </a:p>
          <a:p>
            <a:pPr marL="12700" marR="111760">
              <a:lnSpc>
                <a:spcPct val="9000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redundancy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aspect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RAID-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failure,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although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parallel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 </a:t>
            </a:r>
            <a:r>
              <a:rPr sz="2000" spc="-10" dirty="0">
                <a:latin typeface="Calibri"/>
                <a:cs typeface="Calibri"/>
              </a:rPr>
              <a:t>temporarily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until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drive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replaced.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hot-spare,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course, </a:t>
            </a:r>
            <a:r>
              <a:rPr sz="2000" dirty="0">
                <a:latin typeface="Calibri"/>
                <a:cs typeface="Calibri"/>
              </a:rPr>
              <a:t>ensures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affected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brief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Case</a:t>
            </a:r>
            <a:r>
              <a:rPr sz="2800" spc="-55" dirty="0"/>
              <a:t> </a:t>
            </a:r>
            <a:r>
              <a:rPr sz="2800" dirty="0"/>
              <a:t>2:</a:t>
            </a:r>
            <a:r>
              <a:rPr sz="2800" spc="-60" dirty="0"/>
              <a:t> </a:t>
            </a:r>
            <a:r>
              <a:rPr sz="2800" dirty="0"/>
              <a:t>Usenet</a:t>
            </a:r>
            <a:r>
              <a:rPr sz="2800" spc="-50" dirty="0"/>
              <a:t> </a:t>
            </a:r>
            <a:r>
              <a:rPr sz="2800" spc="-20" dirty="0"/>
              <a:t>News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618234"/>
            <a:ext cx="8067675" cy="39643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493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Striped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arrays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clearly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best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candidate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Internet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news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servers.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Extremely </a:t>
            </a:r>
            <a:r>
              <a:rPr sz="1900" dirty="0">
                <a:latin typeface="Calibri"/>
                <a:cs typeface="Calibri"/>
              </a:rPr>
              <a:t>fast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write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required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keep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enormous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streams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typical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full-</a:t>
            </a:r>
            <a:r>
              <a:rPr sz="1900" dirty="0">
                <a:latin typeface="Calibri"/>
                <a:cs typeface="Calibri"/>
              </a:rPr>
              <a:t>feed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news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server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experiences.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cases,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a </a:t>
            </a:r>
            <a:r>
              <a:rPr sz="1900" dirty="0">
                <a:latin typeface="Calibri"/>
                <a:cs typeface="Calibri"/>
              </a:rPr>
              <a:t>news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inconsequential.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articles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frequent,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even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normally</a:t>
            </a:r>
            <a:endParaRPr sz="1900">
              <a:latin typeface="Calibri"/>
              <a:cs typeface="Calibri"/>
            </a:endParaRPr>
          </a:p>
          <a:p>
            <a:pPr marL="12700" marR="639445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operating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feeds,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complete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usually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means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few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days’ </a:t>
            </a:r>
            <a:r>
              <a:rPr sz="1900" dirty="0">
                <a:latin typeface="Calibri"/>
                <a:cs typeface="Calibri"/>
              </a:rPr>
              <a:t>articles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lost.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900">
              <a:latin typeface="Calibri"/>
              <a:cs typeface="Calibri"/>
            </a:endParaRPr>
          </a:p>
          <a:p>
            <a:pPr marL="12700" marR="123825">
              <a:lnSpc>
                <a:spcPct val="100000"/>
              </a:lnSpc>
            </a:pPr>
            <a:r>
              <a:rPr sz="1900" spc="-20" dirty="0">
                <a:latin typeface="Calibri"/>
                <a:cs typeface="Calibri"/>
              </a:rPr>
              <a:t>Administrators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could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configure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single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news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server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both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striped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spc="-10" dirty="0">
                <a:latin typeface="Calibri"/>
                <a:cs typeface="Calibri"/>
              </a:rPr>
              <a:t>mirrored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30" dirty="0">
                <a:latin typeface="Calibri"/>
                <a:cs typeface="Calibri"/>
              </a:rPr>
              <a:t>array.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striped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array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could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house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newsgroupsthat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no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consequence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could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easily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withstand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day’s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article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loss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without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users </a:t>
            </a:r>
            <a:r>
              <a:rPr sz="1900" dirty="0">
                <a:latin typeface="Calibri"/>
                <a:cs typeface="Calibri"/>
              </a:rPr>
              <a:t>complaining.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Newsgroups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frequently,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well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local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groups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spc="-10" dirty="0">
                <a:latin typeface="Calibri"/>
                <a:cs typeface="Calibri"/>
              </a:rPr>
              <a:t>system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partitions,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could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housed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RAID-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30" dirty="0">
                <a:latin typeface="Calibri"/>
                <a:cs typeface="Calibri"/>
              </a:rPr>
              <a:t>array.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would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900" spc="-10" dirty="0">
                <a:latin typeface="Calibri"/>
                <a:cs typeface="Calibri"/>
              </a:rPr>
              <a:t>make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machine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redundant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failure.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A</a:t>
            </a:r>
            <a:r>
              <a:rPr sz="2400" spc="-55" dirty="0"/>
              <a:t> </a:t>
            </a:r>
            <a:r>
              <a:rPr sz="2400" dirty="0"/>
              <a:t>Usenet</a:t>
            </a:r>
            <a:r>
              <a:rPr sz="2400" spc="-60" dirty="0"/>
              <a:t> </a:t>
            </a:r>
            <a:r>
              <a:rPr sz="2400" dirty="0"/>
              <a:t>news</a:t>
            </a:r>
            <a:r>
              <a:rPr sz="2400" spc="-50" dirty="0"/>
              <a:t> </a:t>
            </a:r>
            <a:r>
              <a:rPr sz="2400" dirty="0"/>
              <a:t>server</a:t>
            </a:r>
            <a:r>
              <a:rPr sz="2400" spc="-65" dirty="0"/>
              <a:t> </a:t>
            </a:r>
            <a:r>
              <a:rPr sz="2400" dirty="0"/>
              <a:t>with</a:t>
            </a:r>
            <a:r>
              <a:rPr sz="2400" spc="-50" dirty="0"/>
              <a:t> </a:t>
            </a:r>
            <a:r>
              <a:rPr sz="2400" dirty="0"/>
              <a:t>both</a:t>
            </a:r>
            <a:r>
              <a:rPr sz="2400" spc="-60" dirty="0"/>
              <a:t> </a:t>
            </a:r>
            <a:r>
              <a:rPr sz="2400" dirty="0"/>
              <a:t>a</a:t>
            </a:r>
            <a:r>
              <a:rPr sz="2400" spc="-50" dirty="0"/>
              <a:t> </a:t>
            </a:r>
            <a:r>
              <a:rPr sz="2400" dirty="0"/>
              <a:t>striped</a:t>
            </a:r>
            <a:r>
              <a:rPr sz="2400" spc="-50" dirty="0"/>
              <a:t> </a:t>
            </a:r>
            <a:r>
              <a:rPr sz="2400" dirty="0"/>
              <a:t>and</a:t>
            </a:r>
            <a:r>
              <a:rPr sz="2400" spc="-60" dirty="0"/>
              <a:t> </a:t>
            </a:r>
            <a:r>
              <a:rPr sz="2400" dirty="0"/>
              <a:t>mirror</a:t>
            </a:r>
            <a:r>
              <a:rPr sz="2400" spc="-75" dirty="0"/>
              <a:t> </a:t>
            </a:r>
            <a:r>
              <a:rPr sz="2400" spc="-10" dirty="0"/>
              <a:t>array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295" y="1752600"/>
            <a:ext cx="7665466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Case</a:t>
            </a:r>
            <a:r>
              <a:rPr sz="2800" spc="-60" dirty="0"/>
              <a:t> </a:t>
            </a:r>
            <a:r>
              <a:rPr sz="2800" dirty="0"/>
              <a:t>3:</a:t>
            </a:r>
            <a:r>
              <a:rPr sz="2800" spc="-60" dirty="0"/>
              <a:t> </a:t>
            </a:r>
            <a:r>
              <a:rPr sz="2800" dirty="0"/>
              <a:t>The</a:t>
            </a:r>
            <a:r>
              <a:rPr sz="2800" spc="-75" dirty="0"/>
              <a:t> </a:t>
            </a:r>
            <a:r>
              <a:rPr sz="2800" dirty="0"/>
              <a:t>Acme</a:t>
            </a:r>
            <a:r>
              <a:rPr sz="2800" spc="-65" dirty="0"/>
              <a:t> </a:t>
            </a:r>
            <a:r>
              <a:rPr sz="2800" dirty="0"/>
              <a:t>Motion</a:t>
            </a:r>
            <a:r>
              <a:rPr sz="2800" spc="-65" dirty="0"/>
              <a:t> </a:t>
            </a:r>
            <a:r>
              <a:rPr sz="2800" dirty="0"/>
              <a:t>Picture</a:t>
            </a:r>
            <a:r>
              <a:rPr sz="2800" spc="-55" dirty="0"/>
              <a:t> </a:t>
            </a:r>
            <a:r>
              <a:rPr sz="2800" spc="-10" dirty="0"/>
              <a:t>Company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900" dirty="0"/>
              <a:t>Film</a:t>
            </a:r>
            <a:r>
              <a:rPr sz="1900" spc="-50" dirty="0"/>
              <a:t> </a:t>
            </a:r>
            <a:r>
              <a:rPr sz="1900" spc="-10" dirty="0"/>
              <a:t>production</a:t>
            </a:r>
            <a:r>
              <a:rPr sz="1900" spc="-15" dirty="0"/>
              <a:t> </a:t>
            </a:r>
            <a:r>
              <a:rPr sz="1900" spc="-10" dirty="0"/>
              <a:t>workstations</a:t>
            </a:r>
            <a:r>
              <a:rPr sz="1900" spc="-50" dirty="0"/>
              <a:t> </a:t>
            </a:r>
            <a:r>
              <a:rPr sz="1900" dirty="0"/>
              <a:t>would</a:t>
            </a:r>
            <a:r>
              <a:rPr sz="1900" spc="-35" dirty="0"/>
              <a:t> </a:t>
            </a:r>
            <a:r>
              <a:rPr sz="1900" dirty="0"/>
              <a:t>benefit</a:t>
            </a:r>
            <a:r>
              <a:rPr sz="1900" spc="-35" dirty="0"/>
              <a:t> </a:t>
            </a:r>
            <a:r>
              <a:rPr sz="1900" dirty="0"/>
              <a:t>greatly</a:t>
            </a:r>
            <a:r>
              <a:rPr sz="1900" spc="-30" dirty="0"/>
              <a:t> </a:t>
            </a:r>
            <a:r>
              <a:rPr sz="1900" dirty="0"/>
              <a:t>from</a:t>
            </a:r>
            <a:r>
              <a:rPr sz="1900" spc="-55" dirty="0"/>
              <a:t> </a:t>
            </a:r>
            <a:r>
              <a:rPr sz="1900" spc="-20" dirty="0"/>
              <a:t>RAID-</a:t>
            </a:r>
            <a:r>
              <a:rPr sz="1900" dirty="0"/>
              <a:t>5.</a:t>
            </a:r>
            <a:r>
              <a:rPr sz="1900" spc="-30" dirty="0"/>
              <a:t> </a:t>
            </a:r>
            <a:r>
              <a:rPr sz="1900" dirty="0"/>
              <a:t>While</a:t>
            </a:r>
            <a:r>
              <a:rPr sz="1900" spc="-45" dirty="0"/>
              <a:t> </a:t>
            </a:r>
            <a:r>
              <a:rPr sz="1900" spc="-20" dirty="0"/>
              <a:t>RAID-</a:t>
            </a:r>
            <a:r>
              <a:rPr sz="1900" spc="-50" dirty="0"/>
              <a:t>0</a:t>
            </a:r>
            <a:endParaRPr sz="1900"/>
          </a:p>
          <a:p>
            <a:pPr marL="12700" marR="5080">
              <a:lnSpc>
                <a:spcPct val="100000"/>
              </a:lnSpc>
              <a:spcBef>
                <a:spcPts val="459"/>
              </a:spcBef>
            </a:pPr>
            <a:r>
              <a:rPr sz="1900" dirty="0"/>
              <a:t>might</a:t>
            </a:r>
            <a:r>
              <a:rPr sz="1900" spc="-35" dirty="0"/>
              <a:t> </a:t>
            </a:r>
            <a:r>
              <a:rPr sz="1900" dirty="0"/>
              <a:t>seem</a:t>
            </a:r>
            <a:r>
              <a:rPr sz="1900" spc="-60" dirty="0"/>
              <a:t> </a:t>
            </a:r>
            <a:r>
              <a:rPr sz="1900" dirty="0"/>
              <a:t>like</a:t>
            </a:r>
            <a:r>
              <a:rPr sz="1900" spc="-45" dirty="0"/>
              <a:t> </a:t>
            </a:r>
            <a:r>
              <a:rPr sz="1900" dirty="0"/>
              <a:t>a</a:t>
            </a:r>
            <a:r>
              <a:rPr sz="1900" spc="-40" dirty="0"/>
              <a:t> </a:t>
            </a:r>
            <a:r>
              <a:rPr sz="1900" dirty="0"/>
              <a:t>good</a:t>
            </a:r>
            <a:r>
              <a:rPr sz="1900" spc="-35" dirty="0"/>
              <a:t> </a:t>
            </a:r>
            <a:r>
              <a:rPr sz="1900" dirty="0"/>
              <a:t>choice</a:t>
            </a:r>
            <a:r>
              <a:rPr sz="1900" spc="-40" dirty="0"/>
              <a:t> </a:t>
            </a:r>
            <a:r>
              <a:rPr sz="1900" dirty="0"/>
              <a:t>because</a:t>
            </a:r>
            <a:r>
              <a:rPr sz="1900" spc="-45" dirty="0"/>
              <a:t> </a:t>
            </a:r>
            <a:r>
              <a:rPr sz="1900" dirty="0"/>
              <a:t>of</a:t>
            </a:r>
            <a:r>
              <a:rPr sz="1900" spc="-60" dirty="0"/>
              <a:t> </a:t>
            </a:r>
            <a:r>
              <a:rPr sz="1900" dirty="0"/>
              <a:t>its</a:t>
            </a:r>
            <a:r>
              <a:rPr sz="1900" spc="-45" dirty="0"/>
              <a:t> </a:t>
            </a:r>
            <a:r>
              <a:rPr sz="1900" dirty="0"/>
              <a:t>fast</a:t>
            </a:r>
            <a:r>
              <a:rPr sz="1900" spc="-55" dirty="0"/>
              <a:t> </a:t>
            </a:r>
            <a:r>
              <a:rPr sz="1900" spc="-10" dirty="0"/>
              <a:t>performance,</a:t>
            </a:r>
            <a:r>
              <a:rPr sz="1900" spc="-40" dirty="0"/>
              <a:t> </a:t>
            </a:r>
            <a:r>
              <a:rPr sz="1900" dirty="0"/>
              <a:t>losing</a:t>
            </a:r>
            <a:r>
              <a:rPr sz="1900" spc="-45" dirty="0"/>
              <a:t> </a:t>
            </a:r>
            <a:r>
              <a:rPr sz="1900" dirty="0"/>
              <a:t>a</a:t>
            </a:r>
            <a:r>
              <a:rPr sz="1900" spc="-30" dirty="0"/>
              <a:t> </a:t>
            </a:r>
            <a:r>
              <a:rPr sz="1900" spc="-20" dirty="0"/>
              <a:t>work </a:t>
            </a:r>
            <a:r>
              <a:rPr sz="1900" spc="-10" dirty="0"/>
              <a:t>inprogress</a:t>
            </a:r>
            <a:r>
              <a:rPr sz="1900" spc="-20" dirty="0"/>
              <a:t> </a:t>
            </a:r>
            <a:r>
              <a:rPr sz="1900" dirty="0"/>
              <a:t>might</a:t>
            </a:r>
            <a:r>
              <a:rPr sz="1900" spc="-30" dirty="0"/>
              <a:t> </a:t>
            </a:r>
            <a:r>
              <a:rPr sz="1900" dirty="0"/>
              <a:t>set</a:t>
            </a:r>
            <a:r>
              <a:rPr sz="1900" spc="-60" dirty="0"/>
              <a:t> </a:t>
            </a:r>
            <a:r>
              <a:rPr sz="1900" dirty="0"/>
              <a:t>work</a:t>
            </a:r>
            <a:r>
              <a:rPr sz="1900" spc="-50" dirty="0"/>
              <a:t> </a:t>
            </a:r>
            <a:r>
              <a:rPr sz="1900" dirty="0"/>
              <a:t>back</a:t>
            </a:r>
            <a:r>
              <a:rPr sz="1900" spc="-55" dirty="0"/>
              <a:t> </a:t>
            </a:r>
            <a:r>
              <a:rPr sz="1900" dirty="0"/>
              <a:t>by</a:t>
            </a:r>
            <a:r>
              <a:rPr sz="1900" spc="-40" dirty="0"/>
              <a:t> </a:t>
            </a:r>
            <a:r>
              <a:rPr sz="1900" dirty="0"/>
              <a:t>days,</a:t>
            </a:r>
            <a:r>
              <a:rPr sz="1900" spc="-55" dirty="0"/>
              <a:t> </a:t>
            </a:r>
            <a:r>
              <a:rPr sz="1900" dirty="0"/>
              <a:t>or</a:t>
            </a:r>
            <a:r>
              <a:rPr sz="1900" spc="-50" dirty="0"/>
              <a:t> </a:t>
            </a:r>
            <a:r>
              <a:rPr sz="1900" dirty="0"/>
              <a:t>even</a:t>
            </a:r>
            <a:r>
              <a:rPr sz="1900" spc="-25" dirty="0"/>
              <a:t> </a:t>
            </a:r>
            <a:r>
              <a:rPr sz="1900" dirty="0"/>
              <a:t>weeks.</a:t>
            </a:r>
            <a:r>
              <a:rPr sz="1900" spc="-60" dirty="0"/>
              <a:t> </a:t>
            </a:r>
            <a:r>
              <a:rPr sz="1900" dirty="0"/>
              <a:t>By</a:t>
            </a:r>
            <a:r>
              <a:rPr sz="1900" spc="-35" dirty="0"/>
              <a:t> </a:t>
            </a:r>
            <a:r>
              <a:rPr sz="1900" dirty="0"/>
              <a:t>using</a:t>
            </a:r>
            <a:r>
              <a:rPr sz="1900" spc="-40" dirty="0"/>
              <a:t> </a:t>
            </a:r>
            <a:r>
              <a:rPr sz="1900" spc="-20" dirty="0"/>
              <a:t>RAID-</a:t>
            </a:r>
            <a:r>
              <a:rPr sz="1900" dirty="0"/>
              <a:t>5,</a:t>
            </a:r>
            <a:r>
              <a:rPr sz="1900" spc="-30" dirty="0"/>
              <a:t> </a:t>
            </a:r>
            <a:r>
              <a:rPr sz="1900" spc="-10" dirty="0"/>
              <a:t>editors </a:t>
            </a:r>
            <a:r>
              <a:rPr sz="1900" dirty="0"/>
              <a:t>are</a:t>
            </a:r>
            <a:r>
              <a:rPr sz="1900" spc="-45" dirty="0"/>
              <a:t> </a:t>
            </a:r>
            <a:r>
              <a:rPr sz="1900" dirty="0"/>
              <a:t>able</a:t>
            </a:r>
            <a:r>
              <a:rPr sz="1900" spc="-45" dirty="0"/>
              <a:t> </a:t>
            </a:r>
            <a:r>
              <a:rPr sz="1900" dirty="0"/>
              <a:t>to</a:t>
            </a:r>
            <a:r>
              <a:rPr sz="1900" spc="-55" dirty="0"/>
              <a:t> </a:t>
            </a:r>
            <a:r>
              <a:rPr sz="1900" dirty="0"/>
              <a:t>achieve</a:t>
            </a:r>
            <a:r>
              <a:rPr sz="1900" spc="-20" dirty="0"/>
              <a:t> </a:t>
            </a:r>
            <a:r>
              <a:rPr sz="1900" spc="-10" dirty="0"/>
              <a:t>redundancy</a:t>
            </a:r>
            <a:r>
              <a:rPr sz="1900" spc="-40" dirty="0"/>
              <a:t> </a:t>
            </a:r>
            <a:r>
              <a:rPr sz="1900" dirty="0"/>
              <a:t>and</a:t>
            </a:r>
            <a:r>
              <a:rPr sz="1900" spc="-45" dirty="0"/>
              <a:t> </a:t>
            </a:r>
            <a:r>
              <a:rPr sz="1900" dirty="0"/>
              <a:t>see</a:t>
            </a:r>
            <a:r>
              <a:rPr sz="1900" spc="-45" dirty="0"/>
              <a:t> </a:t>
            </a:r>
            <a:r>
              <a:rPr sz="1900" dirty="0"/>
              <a:t>an</a:t>
            </a:r>
            <a:r>
              <a:rPr sz="1900" spc="-55" dirty="0"/>
              <a:t> </a:t>
            </a:r>
            <a:r>
              <a:rPr sz="1900" spc="-10" dirty="0"/>
              <a:t>improvement</a:t>
            </a:r>
            <a:r>
              <a:rPr sz="1900" spc="-5" dirty="0"/>
              <a:t> </a:t>
            </a:r>
            <a:r>
              <a:rPr sz="1900" dirty="0"/>
              <a:t>in</a:t>
            </a:r>
            <a:r>
              <a:rPr sz="1900" spc="-50" dirty="0"/>
              <a:t> </a:t>
            </a:r>
            <a:r>
              <a:rPr sz="1900" spc="-10" dirty="0"/>
              <a:t>performance.</a:t>
            </a:r>
            <a:endParaRPr sz="1900"/>
          </a:p>
          <a:p>
            <a:pPr marL="12700" marR="318770">
              <a:lnSpc>
                <a:spcPct val="100000"/>
              </a:lnSpc>
            </a:pPr>
            <a:r>
              <a:rPr sz="1900" spc="-10" dirty="0"/>
              <a:t>Likewise,</a:t>
            </a:r>
            <a:r>
              <a:rPr sz="1900" spc="-35" dirty="0"/>
              <a:t> </a:t>
            </a:r>
            <a:r>
              <a:rPr sz="1900" spc="-20" dirty="0"/>
              <a:t>RAID-</a:t>
            </a:r>
            <a:r>
              <a:rPr sz="1900" dirty="0"/>
              <a:t>1</a:t>
            </a:r>
            <a:r>
              <a:rPr sz="1900" spc="-30" dirty="0"/>
              <a:t> </a:t>
            </a:r>
            <a:r>
              <a:rPr sz="1900" dirty="0"/>
              <a:t>might</a:t>
            </a:r>
            <a:r>
              <a:rPr sz="1900" spc="-40" dirty="0"/>
              <a:t> </a:t>
            </a:r>
            <a:r>
              <a:rPr sz="1900" dirty="0"/>
              <a:t>seem</a:t>
            </a:r>
            <a:r>
              <a:rPr sz="1900" spc="-60" dirty="0"/>
              <a:t> </a:t>
            </a:r>
            <a:r>
              <a:rPr sz="1900" dirty="0"/>
              <a:t>like</a:t>
            </a:r>
            <a:r>
              <a:rPr sz="1900" spc="-35" dirty="0"/>
              <a:t> </a:t>
            </a:r>
            <a:r>
              <a:rPr sz="1900" dirty="0"/>
              <a:t>a</a:t>
            </a:r>
            <a:r>
              <a:rPr sz="1900" spc="-55" dirty="0"/>
              <a:t> </a:t>
            </a:r>
            <a:r>
              <a:rPr sz="1900" dirty="0"/>
              <a:t>good</a:t>
            </a:r>
            <a:r>
              <a:rPr sz="1900" spc="-40" dirty="0"/>
              <a:t> </a:t>
            </a:r>
            <a:r>
              <a:rPr sz="1900" dirty="0"/>
              <a:t>choice</a:t>
            </a:r>
            <a:r>
              <a:rPr sz="1900" spc="-55" dirty="0"/>
              <a:t> </a:t>
            </a:r>
            <a:r>
              <a:rPr sz="1900" dirty="0"/>
              <a:t>because</a:t>
            </a:r>
            <a:r>
              <a:rPr sz="1900" spc="-45" dirty="0"/>
              <a:t> </a:t>
            </a:r>
            <a:r>
              <a:rPr sz="1900" dirty="0"/>
              <a:t>it</a:t>
            </a:r>
            <a:r>
              <a:rPr sz="1900" spc="-55" dirty="0"/>
              <a:t> </a:t>
            </a:r>
            <a:r>
              <a:rPr sz="1900" spc="-10" dirty="0"/>
              <a:t>offers</a:t>
            </a:r>
            <a:r>
              <a:rPr sz="1900" spc="-50" dirty="0"/>
              <a:t> </a:t>
            </a:r>
            <a:r>
              <a:rPr sz="1900" spc="-10" dirty="0"/>
              <a:t>redundancy </a:t>
            </a:r>
            <a:r>
              <a:rPr sz="1900" dirty="0"/>
              <a:t>without</a:t>
            </a:r>
            <a:r>
              <a:rPr sz="1900" spc="-20" dirty="0"/>
              <a:t> </a:t>
            </a:r>
            <a:r>
              <a:rPr sz="1900" dirty="0"/>
              <a:t>much</a:t>
            </a:r>
            <a:r>
              <a:rPr sz="1900" spc="-35" dirty="0"/>
              <a:t> </a:t>
            </a:r>
            <a:r>
              <a:rPr sz="1900" dirty="0"/>
              <a:t>of</a:t>
            </a:r>
            <a:r>
              <a:rPr sz="1900" spc="-40" dirty="0"/>
              <a:t> </a:t>
            </a:r>
            <a:r>
              <a:rPr sz="1900" dirty="0"/>
              <a:t>a</a:t>
            </a:r>
            <a:r>
              <a:rPr sz="1900" spc="-30" dirty="0"/>
              <a:t> </a:t>
            </a:r>
            <a:r>
              <a:rPr sz="1900" spc="-10" dirty="0"/>
              <a:t>performance</a:t>
            </a:r>
            <a:r>
              <a:rPr sz="1900" spc="-30" dirty="0"/>
              <a:t> </a:t>
            </a:r>
            <a:r>
              <a:rPr sz="1900" dirty="0"/>
              <a:t>hit</a:t>
            </a:r>
            <a:r>
              <a:rPr sz="1900" spc="-35" dirty="0"/>
              <a:t> </a:t>
            </a:r>
            <a:r>
              <a:rPr sz="1900" dirty="0"/>
              <a:t>during</a:t>
            </a:r>
            <a:r>
              <a:rPr sz="1900" spc="-10" dirty="0"/>
              <a:t> </a:t>
            </a:r>
            <a:r>
              <a:rPr sz="1900" dirty="0"/>
              <a:t>disk</a:t>
            </a:r>
            <a:r>
              <a:rPr sz="1900" spc="-40" dirty="0"/>
              <a:t> </a:t>
            </a:r>
            <a:r>
              <a:rPr sz="1900" spc="-10" dirty="0"/>
              <a:t>failures.</a:t>
            </a:r>
            <a:endParaRPr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Case</a:t>
            </a:r>
            <a:r>
              <a:rPr sz="2800" spc="-5" dirty="0"/>
              <a:t> </a:t>
            </a:r>
            <a:r>
              <a:rPr sz="2800" dirty="0"/>
              <a:t>4:</a:t>
            </a:r>
            <a:r>
              <a:rPr sz="2800" spc="-5" dirty="0"/>
              <a:t> </a:t>
            </a:r>
            <a:r>
              <a:rPr sz="2800" dirty="0"/>
              <a:t>Video</a:t>
            </a:r>
            <a:r>
              <a:rPr sz="2800" spc="-25" dirty="0"/>
              <a:t> </a:t>
            </a:r>
            <a:r>
              <a:rPr sz="2800" dirty="0"/>
              <a:t>on</a:t>
            </a:r>
            <a:r>
              <a:rPr sz="2800" spc="-30" dirty="0"/>
              <a:t> </a:t>
            </a:r>
            <a:r>
              <a:rPr sz="2800" spc="-10" dirty="0"/>
              <a:t>Demand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559710"/>
            <a:ext cx="8023859" cy="135826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900" dirty="0">
                <a:latin typeface="Calibri"/>
                <a:cs typeface="Calibri"/>
              </a:rPr>
              <a:t>This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scenario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offers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considerations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Case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site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serving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images.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900" spc="-20" dirty="0">
                <a:latin typeface="Calibri"/>
                <a:cs typeface="Calibri"/>
              </a:rPr>
              <a:t>RAID-</a:t>
            </a:r>
            <a:r>
              <a:rPr sz="1900" dirty="0">
                <a:latin typeface="Calibri"/>
                <a:cs typeface="Calibri"/>
              </a:rPr>
              <a:t>1,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multiple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member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offers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great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performance.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Since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writes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55"/>
              </a:spcBef>
            </a:pPr>
            <a:r>
              <a:rPr sz="1900" dirty="0">
                <a:latin typeface="Calibri"/>
                <a:cs typeface="Calibri"/>
              </a:rPr>
              <a:t>aren’t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very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frequent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video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demand,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write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performance </a:t>
            </a:r>
            <a:r>
              <a:rPr sz="1900" dirty="0">
                <a:latin typeface="Calibri"/>
                <a:cs typeface="Calibri"/>
              </a:rPr>
              <a:t>hit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okay.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042030"/>
            <a:ext cx="7620000" cy="25967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38604" y="5660847"/>
            <a:ext cx="56476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3234" marR="5080" indent="-471170">
              <a:lnSpc>
                <a:spcPct val="100000"/>
              </a:lnSpc>
              <a:spcBef>
                <a:spcPts val="100"/>
              </a:spcBef>
            </a:pPr>
            <a:r>
              <a:rPr sz="1400" i="1" spc="-20" dirty="0">
                <a:latin typeface="Calibri"/>
                <a:cs typeface="Calibri"/>
              </a:rPr>
              <a:t>Workstations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with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RAID-</a:t>
            </a:r>
            <a:r>
              <a:rPr sz="1400" i="1" dirty="0">
                <a:latin typeface="Calibri"/>
                <a:cs typeface="Calibri"/>
              </a:rPr>
              <a:t>5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arrays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edit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films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while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retrieving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source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films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from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50" dirty="0">
                <a:latin typeface="Calibri"/>
                <a:cs typeface="Calibri"/>
              </a:rPr>
              <a:t>a </a:t>
            </a:r>
            <a:r>
              <a:rPr sz="1400" i="1" spc="-10" dirty="0">
                <a:latin typeface="Calibri"/>
                <a:cs typeface="Calibri"/>
              </a:rPr>
              <a:t>RAID-</a:t>
            </a:r>
            <a:r>
              <a:rPr sz="1400" i="1" dirty="0">
                <a:latin typeface="Calibri"/>
                <a:cs typeface="Calibri"/>
              </a:rPr>
              <a:t>1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array.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Finished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products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are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sent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another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RAID-</a:t>
            </a:r>
            <a:r>
              <a:rPr sz="1400" i="1" dirty="0">
                <a:latin typeface="Calibri"/>
                <a:cs typeface="Calibri"/>
              </a:rPr>
              <a:t>1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array.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Hot-</a:t>
            </a:r>
            <a:r>
              <a:rPr sz="2800" spc="-10" dirty="0"/>
              <a:t>Spares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618234"/>
            <a:ext cx="8074025" cy="431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some</a:t>
            </a:r>
            <a:r>
              <a:rPr sz="1900" spc="48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48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levels</a:t>
            </a:r>
            <a:r>
              <a:rPr sz="1900" spc="4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4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replace</a:t>
            </a:r>
            <a:r>
              <a:rPr sz="1900" spc="4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4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failed</a:t>
            </a:r>
            <a:r>
              <a:rPr sz="1900" spc="4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drive</a:t>
            </a:r>
            <a:r>
              <a:rPr sz="1900" spc="48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48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4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new</a:t>
            </a:r>
            <a:r>
              <a:rPr sz="1900" spc="4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drive</a:t>
            </a:r>
            <a:r>
              <a:rPr sz="1900" spc="4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without</a:t>
            </a:r>
            <a:r>
              <a:rPr sz="1900" spc="35" dirty="0">
                <a:latin typeface="Calibri"/>
                <a:cs typeface="Calibri"/>
              </a:rPr>
              <a:t>  </a:t>
            </a:r>
            <a:r>
              <a:rPr sz="1900" spc="-20" dirty="0">
                <a:latin typeface="Calibri"/>
                <a:cs typeface="Calibri"/>
              </a:rPr>
              <a:t>user </a:t>
            </a:r>
            <a:r>
              <a:rPr sz="1900" dirty="0">
                <a:latin typeface="Calibri"/>
                <a:cs typeface="Calibri"/>
              </a:rPr>
              <a:t>intervention.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functionality,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known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hot-</a:t>
            </a:r>
            <a:r>
              <a:rPr sz="1900" dirty="0">
                <a:latin typeface="Calibri"/>
                <a:cs typeface="Calibri"/>
              </a:rPr>
              <a:t>spares,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built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every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hardware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controller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standalone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array.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Linux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kernel.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have </a:t>
            </a:r>
            <a:r>
              <a:rPr sz="1900" dirty="0">
                <a:latin typeface="Calibri"/>
                <a:cs typeface="Calibri"/>
              </a:rPr>
              <a:t>hardware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supports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hot-</a:t>
            </a:r>
            <a:r>
              <a:rPr sz="1900" dirty="0">
                <a:latin typeface="Calibri"/>
                <a:cs typeface="Calibri"/>
              </a:rPr>
              <a:t>spares,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identify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extra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disks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act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spares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drive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failure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occurs.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9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Once</a:t>
            </a:r>
            <a:r>
              <a:rPr sz="1900" spc="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array</a:t>
            </a:r>
            <a:r>
              <a:rPr sz="1900" spc="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experiences</a:t>
            </a:r>
            <a:r>
              <a:rPr sz="1900" spc="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failure,</a:t>
            </a:r>
            <a:r>
              <a:rPr sz="1900" spc="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consequently</a:t>
            </a:r>
            <a:r>
              <a:rPr sz="1900" spc="1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enters</a:t>
            </a:r>
            <a:r>
              <a:rPr sz="1900" spc="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degraded </a:t>
            </a:r>
            <a:r>
              <a:rPr sz="1900" dirty="0">
                <a:latin typeface="Calibri"/>
                <a:cs typeface="Calibri"/>
              </a:rPr>
              <a:t>mode, a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hot-</a:t>
            </a:r>
            <a:r>
              <a:rPr sz="1900" dirty="0">
                <a:latin typeface="Calibri"/>
                <a:cs typeface="Calibri"/>
              </a:rPr>
              <a:t>spare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automatically be introduced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 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array.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 makes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job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administrator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much</a:t>
            </a:r>
            <a:r>
              <a:rPr sz="1900" spc="2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easier,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because</a:t>
            </a:r>
            <a:r>
              <a:rPr sz="1900" spc="2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array</a:t>
            </a:r>
            <a:r>
              <a:rPr sz="1900" spc="2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immediately</a:t>
            </a:r>
            <a:r>
              <a:rPr sz="1900" spc="29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resumes </a:t>
            </a:r>
            <a:r>
              <a:rPr sz="1900" dirty="0">
                <a:latin typeface="Calibri"/>
                <a:cs typeface="Calibri"/>
              </a:rPr>
              <a:t>normal</a:t>
            </a:r>
            <a:r>
              <a:rPr sz="1900" spc="6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operation,</a:t>
            </a:r>
            <a:r>
              <a:rPr sz="1900" spc="6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allowing</a:t>
            </a:r>
            <a:r>
              <a:rPr sz="1900" spc="7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7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administrator</a:t>
            </a:r>
            <a:r>
              <a:rPr sz="1900" spc="7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7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replace</a:t>
            </a:r>
            <a:r>
              <a:rPr sz="1900" spc="80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failed</a:t>
            </a:r>
            <a:r>
              <a:rPr sz="1900" spc="75" dirty="0">
                <a:latin typeface="Calibri"/>
                <a:cs typeface="Calibri"/>
              </a:rPr>
              <a:t>  </a:t>
            </a:r>
            <a:r>
              <a:rPr sz="1900" dirty="0">
                <a:latin typeface="Calibri"/>
                <a:cs typeface="Calibri"/>
              </a:rPr>
              <a:t>drives</a:t>
            </a:r>
            <a:r>
              <a:rPr sz="1900" spc="75" dirty="0">
                <a:latin typeface="Calibri"/>
                <a:cs typeface="Calibri"/>
              </a:rPr>
              <a:t>  </a:t>
            </a:r>
            <a:r>
              <a:rPr sz="1900" spc="-20" dirty="0">
                <a:latin typeface="Calibri"/>
                <a:cs typeface="Calibri"/>
              </a:rPr>
              <a:t>when </a:t>
            </a:r>
            <a:r>
              <a:rPr sz="1900" spc="-10" dirty="0">
                <a:latin typeface="Calibri"/>
                <a:cs typeface="Calibri"/>
              </a:rPr>
              <a:t>convenient.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9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900" b="1" i="1" dirty="0">
                <a:latin typeface="Calibri"/>
                <a:cs typeface="Calibri"/>
              </a:rPr>
              <a:t>In</a:t>
            </a:r>
            <a:r>
              <a:rPr sz="1900" b="1" i="1" spc="4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addition,</a:t>
            </a:r>
            <a:r>
              <a:rPr sz="1900" b="1" i="1" spc="5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having</a:t>
            </a:r>
            <a:r>
              <a:rPr sz="1900" b="1" i="1" spc="40" dirty="0">
                <a:latin typeface="Calibri"/>
                <a:cs typeface="Calibri"/>
              </a:rPr>
              <a:t> </a:t>
            </a:r>
            <a:r>
              <a:rPr sz="1900" b="1" i="1" spc="-20" dirty="0">
                <a:latin typeface="Calibri"/>
                <a:cs typeface="Calibri"/>
              </a:rPr>
              <a:t>hot-</a:t>
            </a:r>
            <a:r>
              <a:rPr sz="1900" b="1" i="1" dirty="0">
                <a:latin typeface="Calibri"/>
                <a:cs typeface="Calibri"/>
              </a:rPr>
              <a:t>spares</a:t>
            </a:r>
            <a:r>
              <a:rPr sz="1900" b="1" i="1" spc="6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decreases</a:t>
            </a:r>
            <a:r>
              <a:rPr sz="1900" b="1" i="1" spc="6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the</a:t>
            </a:r>
            <a:r>
              <a:rPr sz="1900" b="1" i="1" spc="5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chance</a:t>
            </a:r>
            <a:r>
              <a:rPr sz="1900" b="1" i="1" spc="5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that</a:t>
            </a:r>
            <a:r>
              <a:rPr sz="1900" b="1" i="1" spc="5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a</a:t>
            </a:r>
            <a:r>
              <a:rPr sz="1900" b="1" i="1" spc="5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second</a:t>
            </a:r>
            <a:r>
              <a:rPr sz="1900" b="1" i="1" spc="4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drive</a:t>
            </a:r>
            <a:r>
              <a:rPr sz="1900" b="1" i="1" spc="6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will</a:t>
            </a:r>
            <a:r>
              <a:rPr sz="1900" b="1" i="1" spc="45" dirty="0">
                <a:latin typeface="Calibri"/>
                <a:cs typeface="Calibri"/>
              </a:rPr>
              <a:t> </a:t>
            </a:r>
            <a:r>
              <a:rPr sz="1900" b="1" i="1" spc="-20" dirty="0">
                <a:latin typeface="Calibri"/>
                <a:cs typeface="Calibri"/>
              </a:rPr>
              <a:t>fail </a:t>
            </a:r>
            <a:r>
              <a:rPr sz="1900" b="1" i="1" dirty="0">
                <a:latin typeface="Calibri"/>
                <a:cs typeface="Calibri"/>
              </a:rPr>
              <a:t>and</a:t>
            </a:r>
            <a:r>
              <a:rPr sz="1900" b="1" i="1" spc="-4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cause</a:t>
            </a:r>
            <a:r>
              <a:rPr sz="1900" b="1" i="1" spc="-25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data</a:t>
            </a:r>
            <a:r>
              <a:rPr sz="1900" b="1" i="1" spc="-35" dirty="0">
                <a:latin typeface="Calibri"/>
                <a:cs typeface="Calibri"/>
              </a:rPr>
              <a:t> </a:t>
            </a:r>
            <a:r>
              <a:rPr sz="1900" b="1" i="1" spc="-20" dirty="0">
                <a:latin typeface="Calibri"/>
                <a:cs typeface="Calibri"/>
              </a:rPr>
              <a:t>loss.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Working</a:t>
            </a:r>
            <a:r>
              <a:rPr sz="2800" spc="-90" dirty="0"/>
              <a:t> </a:t>
            </a:r>
            <a:r>
              <a:rPr sz="2800" dirty="0"/>
              <a:t>with</a:t>
            </a:r>
            <a:r>
              <a:rPr sz="2800" spc="-90" dirty="0"/>
              <a:t> </a:t>
            </a:r>
            <a:r>
              <a:rPr sz="2800" spc="-10" dirty="0"/>
              <a:t>Software</a:t>
            </a:r>
            <a:r>
              <a:rPr sz="2800" spc="-85" dirty="0"/>
              <a:t> </a:t>
            </a:r>
            <a:r>
              <a:rPr sz="2800" spc="-20" dirty="0"/>
              <a:t>RAID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618234"/>
            <a:ext cx="8074659" cy="4070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" algn="just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raidtools</a:t>
            </a:r>
            <a:r>
              <a:rPr sz="1900" spc="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package,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maintained</a:t>
            </a:r>
            <a:r>
              <a:rPr sz="1900" spc="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Ingo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Molnar,</a:t>
            </a:r>
            <a:r>
              <a:rPr sz="1900" spc="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provides</a:t>
            </a:r>
            <a:r>
              <a:rPr sz="1900" spc="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utilities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4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creating</a:t>
            </a:r>
            <a:r>
              <a:rPr sz="1900" spc="4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4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managing</a:t>
            </a:r>
            <a:r>
              <a:rPr sz="1900" spc="4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software</a:t>
            </a:r>
            <a:r>
              <a:rPr sz="1900" spc="4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arrays.</a:t>
            </a:r>
            <a:r>
              <a:rPr sz="1900" spc="4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raidtools</a:t>
            </a:r>
            <a:r>
              <a:rPr sz="1900" spc="4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4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been</a:t>
            </a:r>
            <a:r>
              <a:rPr sz="1900" spc="48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4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standard </a:t>
            </a:r>
            <a:r>
              <a:rPr sz="1900" dirty="0">
                <a:latin typeface="Calibri"/>
                <a:cs typeface="Calibri"/>
              </a:rPr>
              <a:t>software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management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package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Linux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since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inception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software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driver.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900">
              <a:latin typeface="Calibri"/>
              <a:cs typeface="Calibri"/>
            </a:endParaRPr>
          </a:p>
          <a:p>
            <a:pPr marL="12700" marR="6985" indent="54610" algn="just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It</a:t>
            </a:r>
            <a:r>
              <a:rPr sz="1900" spc="2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relies</a:t>
            </a:r>
            <a:r>
              <a:rPr sz="1900" spc="3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2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configuration</a:t>
            </a:r>
            <a:r>
              <a:rPr sz="1900" spc="3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file</a:t>
            </a:r>
            <a:r>
              <a:rPr sz="1900" spc="2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(/etc/raidtab)</a:t>
            </a:r>
            <a:r>
              <a:rPr sz="1900" spc="3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2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3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difficult</a:t>
            </a:r>
            <a:r>
              <a:rPr sz="1900" spc="2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2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maintain,</a:t>
            </a:r>
            <a:r>
              <a:rPr sz="1900" spc="31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dirty="0">
                <a:latin typeface="Calibri"/>
                <a:cs typeface="Calibri"/>
              </a:rPr>
              <a:t>partly</a:t>
            </a:r>
            <a:r>
              <a:rPr sz="1900" spc="1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because</a:t>
            </a:r>
            <a:r>
              <a:rPr sz="1900" spc="2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its</a:t>
            </a:r>
            <a:r>
              <a:rPr sz="1900" spc="1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features</a:t>
            </a:r>
            <a:r>
              <a:rPr sz="1900" spc="20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1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limited.</a:t>
            </a:r>
            <a:r>
              <a:rPr sz="1900" spc="1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1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August</a:t>
            </a:r>
            <a:r>
              <a:rPr sz="1900" spc="1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2001,</a:t>
            </a:r>
            <a:r>
              <a:rPr sz="1900" spc="19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Neil</a:t>
            </a:r>
            <a:r>
              <a:rPr sz="1900" spc="20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Brown</a:t>
            </a:r>
            <a:r>
              <a:rPr sz="1900" spc="1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released</a:t>
            </a:r>
            <a:r>
              <a:rPr sz="1900" spc="204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 </a:t>
            </a:r>
            <a:r>
              <a:rPr sz="1900" dirty="0">
                <a:latin typeface="Calibri"/>
                <a:cs typeface="Calibri"/>
              </a:rPr>
              <a:t>alternative.</a:t>
            </a:r>
            <a:r>
              <a:rPr sz="1900" spc="2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His</a:t>
            </a:r>
            <a:r>
              <a:rPr sz="1900" spc="2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mdadm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package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provides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2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simple,</a:t>
            </a:r>
            <a:r>
              <a:rPr sz="1900" spc="2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yet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robust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way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manage software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arrays.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9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However,</a:t>
            </a:r>
            <a:r>
              <a:rPr sz="2000" spc="4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4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4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4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raidtools</a:t>
            </a:r>
            <a:r>
              <a:rPr sz="2000" spc="4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cumbersome</a:t>
            </a:r>
            <a:r>
              <a:rPr sz="2000" spc="48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48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limited,</a:t>
            </a:r>
            <a:r>
              <a:rPr sz="2000" spc="4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mdadm</a:t>
            </a:r>
            <a:r>
              <a:rPr sz="2000" spc="48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(multiple </a:t>
            </a:r>
            <a:r>
              <a:rPr sz="2000" dirty="0">
                <a:latin typeface="Calibri"/>
                <a:cs typeface="Calibri"/>
              </a:rPr>
              <a:t>devices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admin)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extremely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useful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tool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running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systems. </a:t>
            </a:r>
            <a:r>
              <a:rPr sz="2000" dirty="0">
                <a:latin typeface="Calibri"/>
                <a:cs typeface="Calibri"/>
              </a:rPr>
              <a:t>It can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replacement</a:t>
            </a:r>
            <a:r>
              <a:rPr sz="2000" dirty="0">
                <a:latin typeface="Calibri"/>
                <a:cs typeface="Calibri"/>
              </a:rPr>
              <a:t> 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raidtools,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supplement.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1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The</a:t>
            </a:r>
            <a:r>
              <a:rPr sz="2400" spc="-60" dirty="0"/>
              <a:t> </a:t>
            </a:r>
            <a:r>
              <a:rPr sz="2400" dirty="0"/>
              <a:t>main</a:t>
            </a:r>
            <a:r>
              <a:rPr sz="2400" spc="-55" dirty="0"/>
              <a:t> </a:t>
            </a:r>
            <a:r>
              <a:rPr sz="2400" spc="-10" dirty="0"/>
              <a:t>differences</a:t>
            </a:r>
            <a:r>
              <a:rPr sz="2400" spc="-50" dirty="0"/>
              <a:t> </a:t>
            </a:r>
            <a:r>
              <a:rPr sz="2400" dirty="0"/>
              <a:t>between</a:t>
            </a:r>
            <a:r>
              <a:rPr sz="2400" spc="-35" dirty="0"/>
              <a:t> </a:t>
            </a:r>
            <a:r>
              <a:rPr sz="2400" dirty="0"/>
              <a:t>mdadm</a:t>
            </a:r>
            <a:r>
              <a:rPr sz="2400" spc="-65" dirty="0"/>
              <a:t> </a:t>
            </a:r>
            <a:r>
              <a:rPr sz="2400" dirty="0"/>
              <a:t>and</a:t>
            </a:r>
            <a:r>
              <a:rPr sz="2400" spc="-50" dirty="0"/>
              <a:t> </a:t>
            </a:r>
            <a:r>
              <a:rPr sz="2400" spc="-10" dirty="0"/>
              <a:t>raidtools</a:t>
            </a:r>
            <a:r>
              <a:rPr sz="2400" spc="-65" dirty="0"/>
              <a:t> </a:t>
            </a:r>
            <a:r>
              <a:rPr sz="2400" spc="-20" dirty="0"/>
              <a:t>are: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618234"/>
            <a:ext cx="8074025" cy="3558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latin typeface="Calibri"/>
                <a:cs typeface="Calibri"/>
              </a:rPr>
              <a:t>mdadm</a:t>
            </a:r>
            <a:r>
              <a:rPr sz="1900" spc="2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2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diagnose,</a:t>
            </a:r>
            <a:r>
              <a:rPr sz="1900" spc="2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monitor</a:t>
            </a:r>
            <a:r>
              <a:rPr sz="1900" spc="2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gather</a:t>
            </a:r>
            <a:r>
              <a:rPr sz="1900" spc="2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detailed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information</a:t>
            </a:r>
            <a:r>
              <a:rPr sz="1900" spc="2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about</a:t>
            </a:r>
            <a:r>
              <a:rPr sz="1900" spc="27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your</a:t>
            </a:r>
            <a:endParaRPr sz="1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arrays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9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1237615" algn="l"/>
                <a:tab pos="1517015" algn="l"/>
                <a:tab pos="1762125" algn="l"/>
                <a:tab pos="2457450" algn="l"/>
                <a:tab pos="3660140" algn="l"/>
                <a:tab pos="4623435" algn="l"/>
                <a:tab pos="5123180" algn="l"/>
                <a:tab pos="5586730" algn="l"/>
                <a:tab pos="5832475" algn="l"/>
                <a:tab pos="6911340" algn="l"/>
                <a:tab pos="7240905" algn="l"/>
              </a:tabLst>
            </a:pPr>
            <a:r>
              <a:rPr sz="1900" spc="-10" dirty="0">
                <a:latin typeface="Calibri"/>
                <a:cs typeface="Calibri"/>
              </a:rPr>
              <a:t>mdadm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is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single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centralized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program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and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not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collection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of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disperse programs,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there's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common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syntax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every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management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command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latin typeface="Calibri"/>
                <a:cs typeface="Calibri"/>
              </a:rPr>
              <a:t>mdadm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perform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almost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its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functions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without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having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configuration</a:t>
            </a:r>
            <a:endParaRPr sz="1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file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default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9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900" dirty="0">
                <a:latin typeface="Calibri"/>
                <a:cs typeface="Calibri"/>
              </a:rPr>
              <a:t>Also,</a:t>
            </a:r>
            <a:r>
              <a:rPr sz="1900" spc="1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1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configuration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file</a:t>
            </a:r>
            <a:r>
              <a:rPr sz="1900" spc="1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1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needed,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mdadm</a:t>
            </a:r>
            <a:r>
              <a:rPr sz="1900" spc="1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help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1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management</a:t>
            </a:r>
            <a:r>
              <a:rPr sz="1900" spc="1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</a:t>
            </a:r>
            <a:endParaRPr sz="1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it's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contents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1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Follow</a:t>
            </a:r>
            <a:r>
              <a:rPr sz="2400" spc="-85" dirty="0"/>
              <a:t> </a:t>
            </a:r>
            <a:r>
              <a:rPr sz="2400" dirty="0"/>
              <a:t>these</a:t>
            </a:r>
            <a:r>
              <a:rPr sz="2400" spc="-40" dirty="0"/>
              <a:t> </a:t>
            </a:r>
            <a:r>
              <a:rPr sz="2400" dirty="0"/>
              <a:t>steps</a:t>
            </a:r>
            <a:r>
              <a:rPr sz="2400" spc="-50" dirty="0"/>
              <a:t> </a:t>
            </a:r>
            <a:r>
              <a:rPr sz="2400" dirty="0"/>
              <a:t>to</a:t>
            </a:r>
            <a:r>
              <a:rPr sz="2400" spc="-55" dirty="0"/>
              <a:t> </a:t>
            </a:r>
            <a:r>
              <a:rPr sz="2400" dirty="0"/>
              <a:t>set</a:t>
            </a:r>
            <a:r>
              <a:rPr sz="2400" spc="-60" dirty="0"/>
              <a:t> </a:t>
            </a:r>
            <a:r>
              <a:rPr sz="2400" dirty="0"/>
              <a:t>up</a:t>
            </a:r>
            <a:r>
              <a:rPr sz="2400" spc="-55" dirty="0"/>
              <a:t> </a:t>
            </a:r>
            <a:r>
              <a:rPr sz="2400" dirty="0"/>
              <a:t>software</a:t>
            </a:r>
            <a:r>
              <a:rPr sz="2400" spc="-35" dirty="0"/>
              <a:t> </a:t>
            </a:r>
            <a:r>
              <a:rPr sz="2400" dirty="0"/>
              <a:t>RAID</a:t>
            </a:r>
            <a:r>
              <a:rPr sz="2400" spc="-65" dirty="0"/>
              <a:t> </a:t>
            </a:r>
            <a:r>
              <a:rPr sz="2400" dirty="0"/>
              <a:t>in</a:t>
            </a:r>
            <a:r>
              <a:rPr sz="2400" spc="-60" dirty="0"/>
              <a:t> </a:t>
            </a:r>
            <a:r>
              <a:rPr sz="2400" spc="-10" dirty="0"/>
              <a:t>Linux: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59710"/>
            <a:ext cx="4537710" cy="176339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527685" algn="l"/>
              </a:tabLst>
            </a:pPr>
            <a:r>
              <a:rPr sz="1900" spc="-10" dirty="0">
                <a:latin typeface="Calibri"/>
                <a:cs typeface="Calibri"/>
              </a:rPr>
              <a:t>configure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driver</a:t>
            </a:r>
            <a:endParaRPr sz="19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527685" algn="l"/>
              </a:tabLst>
            </a:pPr>
            <a:r>
              <a:rPr sz="1900" dirty="0">
                <a:latin typeface="Calibri"/>
                <a:cs typeface="Calibri"/>
              </a:rPr>
              <a:t>Initialise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drive</a:t>
            </a:r>
            <a:endParaRPr sz="19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527685" algn="l"/>
              </a:tabLst>
            </a:pPr>
            <a:r>
              <a:rPr sz="1900" dirty="0">
                <a:latin typeface="Calibri"/>
                <a:cs typeface="Calibri"/>
              </a:rPr>
              <a:t>Check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replication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/proc/mdstat</a:t>
            </a:r>
            <a:endParaRPr sz="19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527685" algn="l"/>
              </a:tabLst>
            </a:pPr>
            <a:r>
              <a:rPr sz="1900" dirty="0">
                <a:latin typeface="Calibri"/>
                <a:cs typeface="Calibri"/>
              </a:rPr>
              <a:t>automate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activation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after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reboot</a:t>
            </a:r>
            <a:endParaRPr sz="19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527685" algn="l"/>
              </a:tabLst>
            </a:pPr>
            <a:r>
              <a:rPr sz="1900" dirty="0">
                <a:latin typeface="Calibri"/>
                <a:cs typeface="Calibri"/>
              </a:rPr>
              <a:t>mount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filesystem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drive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Steps</a:t>
            </a:r>
            <a:r>
              <a:rPr sz="2400" spc="-40" dirty="0"/>
              <a:t> </a:t>
            </a:r>
            <a:r>
              <a:rPr sz="2400" dirty="0"/>
              <a:t>in</a:t>
            </a:r>
            <a:r>
              <a:rPr sz="2400" spc="-35" dirty="0"/>
              <a:t> </a:t>
            </a:r>
            <a:r>
              <a:rPr sz="2400" dirty="0"/>
              <a:t>raid</a:t>
            </a:r>
            <a:r>
              <a:rPr sz="2400" spc="-55" dirty="0"/>
              <a:t> </a:t>
            </a:r>
            <a:r>
              <a:rPr sz="2400" spc="-10" dirty="0"/>
              <a:t>deployment</a:t>
            </a:r>
            <a:r>
              <a:rPr sz="2400" spc="-45" dirty="0"/>
              <a:t> </a:t>
            </a:r>
            <a:r>
              <a:rPr sz="2400" dirty="0"/>
              <a:t>on</a:t>
            </a:r>
            <a:r>
              <a:rPr sz="2400" spc="-55" dirty="0"/>
              <a:t> </a:t>
            </a:r>
            <a:r>
              <a:rPr sz="2400" dirty="0"/>
              <a:t>linux</a:t>
            </a:r>
            <a:r>
              <a:rPr sz="2400" spc="-40" dirty="0"/>
              <a:t> </a:t>
            </a:r>
            <a:r>
              <a:rPr sz="2400" spc="-10" dirty="0"/>
              <a:t>(Continued)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66417"/>
            <a:ext cx="8032115" cy="407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1-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Prepare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auto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detection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fdisk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order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automatically recognised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it</a:t>
            </a:r>
            <a:endParaRPr sz="1900">
              <a:latin typeface="Calibri"/>
              <a:cs typeface="Calibri"/>
            </a:endParaRPr>
          </a:p>
          <a:p>
            <a:pPr marL="12700" marR="875030">
              <a:lnSpc>
                <a:spcPts val="1820"/>
              </a:lnSpc>
              <a:spcBef>
                <a:spcPts val="215"/>
              </a:spcBef>
            </a:pPr>
            <a:r>
              <a:rPr sz="1900" dirty="0">
                <a:latin typeface="Calibri"/>
                <a:cs typeface="Calibri"/>
              </a:rPr>
              <a:t>must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first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fd.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achieved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using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fdisk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command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menu,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"t"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option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change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setting. Available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settings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listed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"l"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menu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option.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900">
              <a:latin typeface="Calibri"/>
              <a:cs typeface="Calibri"/>
            </a:endParaRPr>
          </a:p>
          <a:p>
            <a:pPr marL="12700" marR="258445">
              <a:lnSpc>
                <a:spcPct val="80000"/>
              </a:lnSpc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description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vary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accross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implementations,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should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clearly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show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type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Linux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auto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raid.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settings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must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saved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back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partition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table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"w"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option.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80000"/>
              </a:lnSpc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working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practice,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physical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containing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chosen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partition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contains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local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filesystems,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not </a:t>
            </a:r>
            <a:r>
              <a:rPr sz="1900" dirty="0">
                <a:latin typeface="Calibri"/>
                <a:cs typeface="Calibri"/>
              </a:rPr>
              <a:t>intended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inclusion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within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set.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order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fdisk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write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back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changed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table,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physical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disk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must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in </a:t>
            </a:r>
            <a:r>
              <a:rPr sz="1900" dirty="0">
                <a:latin typeface="Calibri"/>
                <a:cs typeface="Calibri"/>
              </a:rPr>
              <a:t>use.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reason,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build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planning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should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take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account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factors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which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allow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performed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truely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online.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Steps</a:t>
            </a:r>
            <a:r>
              <a:rPr sz="2400" spc="-40" dirty="0"/>
              <a:t> </a:t>
            </a:r>
            <a:r>
              <a:rPr sz="2400" dirty="0"/>
              <a:t>in</a:t>
            </a:r>
            <a:r>
              <a:rPr sz="2400" spc="-35" dirty="0"/>
              <a:t> </a:t>
            </a:r>
            <a:r>
              <a:rPr sz="2400" dirty="0"/>
              <a:t>raid</a:t>
            </a:r>
            <a:r>
              <a:rPr sz="2400" spc="-55" dirty="0"/>
              <a:t> </a:t>
            </a:r>
            <a:r>
              <a:rPr sz="2400" spc="-10" dirty="0"/>
              <a:t>deployment</a:t>
            </a:r>
            <a:r>
              <a:rPr sz="2400" spc="-45" dirty="0"/>
              <a:t> </a:t>
            </a:r>
            <a:r>
              <a:rPr sz="2400" dirty="0"/>
              <a:t>on</a:t>
            </a:r>
            <a:r>
              <a:rPr sz="2400" spc="-50" dirty="0"/>
              <a:t> </a:t>
            </a:r>
            <a:r>
              <a:rPr sz="2400" dirty="0"/>
              <a:t>linux</a:t>
            </a:r>
            <a:r>
              <a:rPr sz="2400" spc="-40" dirty="0"/>
              <a:t> </a:t>
            </a:r>
            <a:r>
              <a:rPr sz="2400" spc="-10" dirty="0"/>
              <a:t>(Continued)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823669"/>
            <a:ext cx="7990840" cy="42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 indent="-290830" algn="just">
              <a:lnSpc>
                <a:spcPct val="100000"/>
              </a:lnSpc>
              <a:spcBef>
                <a:spcPts val="95"/>
              </a:spcBef>
              <a:buSzPct val="115789"/>
              <a:buAutoNum type="arabicPlain" startAt="2"/>
              <a:tabLst>
                <a:tab pos="303530" algn="l"/>
              </a:tabLst>
            </a:pPr>
            <a:r>
              <a:rPr sz="1900" dirty="0">
                <a:latin typeface="Calibri"/>
                <a:cs typeface="Calibri"/>
              </a:rPr>
              <a:t>create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raidset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mdadm</a:t>
            </a:r>
            <a:endParaRPr sz="1900">
              <a:latin typeface="Calibri"/>
              <a:cs typeface="Calibri"/>
            </a:endParaRPr>
          </a:p>
          <a:p>
            <a:pPr marL="12700" marR="5080" algn="just">
              <a:lnSpc>
                <a:spcPct val="80000"/>
              </a:lnSpc>
              <a:spcBef>
                <a:spcPts val="475"/>
              </a:spcBef>
            </a:pPr>
            <a:r>
              <a:rPr sz="1900" spc="-90" dirty="0">
                <a:latin typeface="Calibri"/>
                <a:cs typeface="Calibri"/>
              </a:rPr>
              <a:t>To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create</a:t>
            </a:r>
            <a:r>
              <a:rPr sz="1900" spc="-10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array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first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identified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that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form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RAIDset,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verify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fdisk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partition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type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set.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Once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achieved,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created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as</a:t>
            </a:r>
            <a:endParaRPr sz="1900">
              <a:latin typeface="Calibri"/>
              <a:cs typeface="Calibri"/>
            </a:endParaRPr>
          </a:p>
          <a:p>
            <a:pPr marL="12700" algn="just">
              <a:lnSpc>
                <a:spcPts val="1595"/>
              </a:lnSpc>
            </a:pPr>
            <a:r>
              <a:rPr sz="1900" spc="-10" dirty="0">
                <a:latin typeface="Calibri"/>
                <a:cs typeface="Calibri"/>
              </a:rPr>
              <a:t>follows.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mdadm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C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/dev/md0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raid5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</a:t>
            </a:r>
            <a:r>
              <a:rPr sz="1900" spc="3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/dev/partition1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/dev/partition2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</a:pPr>
            <a:r>
              <a:rPr sz="1900" spc="-10" dirty="0">
                <a:latin typeface="Calibri"/>
                <a:cs typeface="Calibri"/>
              </a:rPr>
              <a:t>/dev/partition3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900">
              <a:latin typeface="Calibri"/>
              <a:cs typeface="Calibri"/>
            </a:endParaRPr>
          </a:p>
          <a:p>
            <a:pPr marL="12700" marR="26034">
              <a:lnSpc>
                <a:spcPct val="80000"/>
              </a:lnSpc>
            </a:pPr>
            <a:r>
              <a:rPr sz="1900" dirty="0">
                <a:latin typeface="Calibri"/>
                <a:cs typeface="Calibri"/>
              </a:rPr>
              <a:t>This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would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create,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activate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raid5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md0,containing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three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devices, </a:t>
            </a:r>
            <a:r>
              <a:rPr sz="1900" dirty="0">
                <a:latin typeface="Calibri"/>
                <a:cs typeface="Calibri"/>
              </a:rPr>
              <a:t>named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/dev/partition1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/dev/partition2,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/dev/partiton3.</a:t>
            </a:r>
            <a:r>
              <a:rPr sz="1900" dirty="0">
                <a:latin typeface="Calibri"/>
                <a:cs typeface="Calibri"/>
              </a:rPr>
              <a:t> Once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created,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dirty="0">
                <a:latin typeface="Calibri"/>
                <a:cs typeface="Calibri"/>
              </a:rPr>
              <a:t>running,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status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array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checked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cat'ing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/proc/mdstat.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1900">
              <a:latin typeface="Calibri"/>
              <a:cs typeface="Calibri"/>
            </a:endParaRPr>
          </a:p>
          <a:p>
            <a:pPr marL="262255" indent="-249554">
              <a:lnSpc>
                <a:spcPct val="100000"/>
              </a:lnSpc>
              <a:buAutoNum type="arabicPlain" startAt="3"/>
              <a:tabLst>
                <a:tab pos="262255" algn="l"/>
              </a:tabLst>
            </a:pPr>
            <a:r>
              <a:rPr sz="1900" spc="-10" dirty="0">
                <a:latin typeface="Calibri"/>
                <a:cs typeface="Calibri"/>
              </a:rPr>
              <a:t>Create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filesystems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newly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created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raidset</a:t>
            </a:r>
            <a:endParaRPr sz="1900">
              <a:latin typeface="Calibri"/>
              <a:cs typeface="Calibri"/>
            </a:endParaRPr>
          </a:p>
          <a:p>
            <a:pPr marL="12700" marR="636270">
              <a:lnSpc>
                <a:spcPct val="80000"/>
              </a:lnSpc>
              <a:spcBef>
                <a:spcPts val="455"/>
              </a:spcBef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newly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created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RAID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addressed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single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device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using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/dev/md0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device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file,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formated,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mounted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normal.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For </a:t>
            </a:r>
            <a:r>
              <a:rPr sz="1900" spc="-10" dirty="0">
                <a:latin typeface="Calibri"/>
                <a:cs typeface="Calibri"/>
              </a:rPr>
              <a:t>example,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mkfs.ext3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/dev/md0.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836829"/>
            <a:ext cx="78867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</a:t>
            </a:r>
            <a:r>
              <a:rPr sz="2400" b="1" spc="-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r>
              <a:rPr sz="2400" b="1" spc="-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sz="2400" b="1" spc="-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4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deployment</a:t>
            </a:r>
            <a:r>
              <a:rPr sz="2400" b="1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</a:t>
            </a:r>
            <a:r>
              <a:rPr sz="2400" b="1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400" b="1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linux</a:t>
            </a:r>
            <a:endParaRPr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805381"/>
            <a:ext cx="8044180" cy="4168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4955" indent="-262255">
              <a:lnSpc>
                <a:spcPct val="100000"/>
              </a:lnSpc>
              <a:spcBef>
                <a:spcPts val="105"/>
              </a:spcBef>
              <a:buSzPct val="117647"/>
              <a:buAutoNum type="arabicPlain" startAt="4"/>
              <a:tabLst>
                <a:tab pos="274955" algn="l"/>
              </a:tabLst>
            </a:pPr>
            <a:r>
              <a:rPr sz="1700" dirty="0">
                <a:latin typeface="Calibri"/>
                <a:cs typeface="Calibri"/>
              </a:rPr>
              <a:t>create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/etc/mdadm.conf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mdadm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command.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AutoNum type="arabicPlain" startAt="4"/>
            </a:pPr>
            <a:endParaRPr sz="1700">
              <a:latin typeface="Calibri"/>
              <a:cs typeface="Calibri"/>
            </a:endParaRPr>
          </a:p>
          <a:p>
            <a:pPr marL="12700" marR="5080" algn="just">
              <a:lnSpc>
                <a:spcPts val="1630"/>
              </a:lnSpc>
            </a:pPr>
            <a:r>
              <a:rPr sz="1700" dirty="0">
                <a:latin typeface="Calibri"/>
                <a:cs typeface="Calibri"/>
              </a:rPr>
              <a:t>Creating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/etc/mdadm.conf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file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peasantly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simple,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requiring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only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mdadm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called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"scan",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"verbose",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"detail"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switches,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its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standard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redirected.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may </a:t>
            </a:r>
            <a:r>
              <a:rPr sz="1700" spc="-10" dirty="0">
                <a:latin typeface="Calibri"/>
                <a:cs typeface="Calibri"/>
              </a:rPr>
              <a:t>therefore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also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handy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tool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determining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any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changes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array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simply</a:t>
            </a:r>
            <a:endParaRPr sz="1700">
              <a:latin typeface="Calibri"/>
              <a:cs typeface="Calibri"/>
            </a:endParaRPr>
          </a:p>
          <a:p>
            <a:pPr marL="12700" algn="just">
              <a:lnSpc>
                <a:spcPts val="1650"/>
              </a:lnSpc>
            </a:pPr>
            <a:r>
              <a:rPr sz="1700" dirty="0">
                <a:latin typeface="Calibri"/>
                <a:cs typeface="Calibri"/>
              </a:rPr>
              <a:t>by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diff'ing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current,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stored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output.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Create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 </a:t>
            </a:r>
            <a:r>
              <a:rPr sz="1700" spc="-10" dirty="0">
                <a:latin typeface="Calibri"/>
                <a:cs typeface="Calibri"/>
              </a:rPr>
              <a:t>follows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1700" dirty="0">
                <a:latin typeface="Calibri"/>
                <a:cs typeface="Calibri"/>
              </a:rPr>
              <a:t>mdadm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--</a:t>
            </a:r>
            <a:r>
              <a:rPr sz="1700" dirty="0">
                <a:latin typeface="Calibri"/>
                <a:cs typeface="Calibri"/>
              </a:rPr>
              <a:t>detail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--</a:t>
            </a:r>
            <a:r>
              <a:rPr sz="1700" dirty="0">
                <a:latin typeface="Calibri"/>
                <a:cs typeface="Calibri"/>
              </a:rPr>
              <a:t>scan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-</a:t>
            </a:r>
            <a:r>
              <a:rPr sz="1700" spc="-20" dirty="0">
                <a:latin typeface="Calibri"/>
                <a:cs typeface="Calibri"/>
              </a:rPr>
              <a:t>-</a:t>
            </a:r>
            <a:r>
              <a:rPr sz="1700" dirty="0">
                <a:latin typeface="Calibri"/>
                <a:cs typeface="Calibri"/>
              </a:rPr>
              <a:t>verbose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&gt;</a:t>
            </a:r>
            <a:r>
              <a:rPr sz="1700" spc="-10" dirty="0">
                <a:latin typeface="Calibri"/>
                <a:cs typeface="Calibri"/>
              </a:rPr>
              <a:t> /etc/mdadm.conf</a:t>
            </a:r>
            <a:endParaRPr sz="1700">
              <a:latin typeface="Calibri"/>
              <a:cs typeface="Calibri"/>
            </a:endParaRPr>
          </a:p>
          <a:p>
            <a:pPr marL="238125" indent="-225425">
              <a:lnSpc>
                <a:spcPct val="100000"/>
              </a:lnSpc>
              <a:spcBef>
                <a:spcPts val="2040"/>
              </a:spcBef>
              <a:buAutoNum type="arabicPlain" startAt="5"/>
              <a:tabLst>
                <a:tab pos="238125" algn="l"/>
              </a:tabLst>
            </a:pPr>
            <a:r>
              <a:rPr sz="1700" dirty="0">
                <a:latin typeface="Calibri"/>
                <a:cs typeface="Calibri"/>
              </a:rPr>
              <a:t>Create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mount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points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edit</a:t>
            </a:r>
            <a:r>
              <a:rPr sz="1700" spc="-10" dirty="0">
                <a:latin typeface="Calibri"/>
                <a:cs typeface="Calibri"/>
              </a:rPr>
              <a:t> /etc/fstab</a:t>
            </a:r>
            <a:endParaRPr sz="1700">
              <a:latin typeface="Calibri"/>
              <a:cs typeface="Calibri"/>
            </a:endParaRPr>
          </a:p>
          <a:p>
            <a:pPr marL="12700" marR="498475">
              <a:lnSpc>
                <a:spcPts val="1630"/>
              </a:lnSpc>
              <a:spcBef>
                <a:spcPts val="395"/>
              </a:spcBef>
            </a:pPr>
            <a:r>
              <a:rPr sz="1700" dirty="0">
                <a:latin typeface="Calibri"/>
                <a:cs typeface="Calibri"/>
              </a:rPr>
              <a:t>Care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must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taken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any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recycled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partitions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RAID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removed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from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/etc/fstab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if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still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exist.</a:t>
            </a:r>
            <a:endParaRPr sz="1700">
              <a:latin typeface="Calibri"/>
              <a:cs typeface="Calibri"/>
            </a:endParaRPr>
          </a:p>
          <a:p>
            <a:pPr marL="186690" indent="-182880">
              <a:lnSpc>
                <a:spcPct val="100000"/>
              </a:lnSpc>
              <a:spcBef>
                <a:spcPts val="2060"/>
              </a:spcBef>
              <a:buSzPct val="91176"/>
              <a:buAutoNum type="arabicPlain" startAt="6"/>
              <a:tabLst>
                <a:tab pos="186690" algn="l"/>
              </a:tabLst>
            </a:pPr>
            <a:r>
              <a:rPr sz="1700" dirty="0">
                <a:latin typeface="Calibri"/>
                <a:cs typeface="Calibri"/>
              </a:rPr>
              <a:t>Mount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filesystems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usingmount</a:t>
            </a:r>
            <a:endParaRPr sz="1700">
              <a:latin typeface="Calibri"/>
              <a:cs typeface="Calibri"/>
            </a:endParaRPr>
          </a:p>
          <a:p>
            <a:pPr marL="12700" marR="167005">
              <a:lnSpc>
                <a:spcPct val="80000"/>
              </a:lnSpc>
              <a:spcBef>
                <a:spcPts val="405"/>
              </a:spcBef>
            </a:pPr>
            <a:r>
              <a:rPr sz="1700" dirty="0">
                <a:latin typeface="Calibri"/>
                <a:cs typeface="Calibri"/>
              </a:rPr>
              <a:t>If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array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been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created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online,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reboot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not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been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executed,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file </a:t>
            </a:r>
            <a:r>
              <a:rPr sz="1700" spc="-10" dirty="0">
                <a:latin typeface="Calibri"/>
                <a:cs typeface="Calibri"/>
              </a:rPr>
              <a:t>systems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will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manually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mounted,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either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manually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mount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command,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or </a:t>
            </a:r>
            <a:r>
              <a:rPr sz="1700" dirty="0">
                <a:latin typeface="Calibri"/>
                <a:cs typeface="Calibri"/>
              </a:rPr>
              <a:t>simply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mount</a:t>
            </a:r>
            <a:r>
              <a:rPr sz="1700" b="1" spc="-50" dirty="0">
                <a:latin typeface="Calibri"/>
                <a:cs typeface="Calibri"/>
              </a:rPr>
              <a:t> </a:t>
            </a:r>
            <a:r>
              <a:rPr sz="1700" b="1" spc="-25" dirty="0">
                <a:latin typeface="Calibri"/>
                <a:cs typeface="Calibri"/>
              </a:rPr>
              <a:t>-</a:t>
            </a:r>
            <a:r>
              <a:rPr sz="1700" b="1" spc="-50" dirty="0">
                <a:latin typeface="Calibri"/>
                <a:cs typeface="Calibri"/>
              </a:rPr>
              <a:t>a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Note: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580134"/>
            <a:ext cx="8073390" cy="39585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1790" marR="8255" indent="-339725" algn="just">
              <a:lnSpc>
                <a:spcPct val="8000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1500" b="1" dirty="0">
                <a:latin typeface="Calibri"/>
                <a:cs typeface="Calibri"/>
              </a:rPr>
              <a:t>Check</a:t>
            </a:r>
            <a:r>
              <a:rPr sz="1500" b="1" spc="1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the</a:t>
            </a:r>
            <a:r>
              <a:rPr sz="1500" b="1" spc="14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replication</a:t>
            </a:r>
            <a:r>
              <a:rPr sz="1500" b="1" spc="1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using</a:t>
            </a:r>
            <a:r>
              <a:rPr sz="1500" b="1" spc="14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/proc/mdstat.</a:t>
            </a:r>
            <a:r>
              <a:rPr sz="1500" b="1" spc="14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/proc/mdstat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shows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state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kernels 	</a:t>
            </a:r>
            <a:r>
              <a:rPr sz="1500" dirty="0">
                <a:latin typeface="Calibri"/>
                <a:cs typeface="Calibri"/>
              </a:rPr>
              <a:t>RAID/md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driver.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  <a:buFont typeface="Arial MT"/>
              <a:buChar char="•"/>
            </a:pPr>
            <a:endParaRPr sz="1500">
              <a:latin typeface="Calibri"/>
              <a:cs typeface="Calibri"/>
            </a:endParaRPr>
          </a:p>
          <a:p>
            <a:pPr marL="351790" marR="5080" indent="-339725" algn="just">
              <a:lnSpc>
                <a:spcPts val="144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1500" b="1" dirty="0">
                <a:latin typeface="Calibri"/>
                <a:cs typeface="Calibri"/>
              </a:rPr>
              <a:t>Automate</a:t>
            </a:r>
            <a:r>
              <a:rPr sz="1500" b="1" spc="3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RAID</a:t>
            </a:r>
            <a:r>
              <a:rPr sz="1500" b="1" spc="3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activation</a:t>
            </a:r>
            <a:r>
              <a:rPr sz="1500" b="1" spc="34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after</a:t>
            </a:r>
            <a:r>
              <a:rPr sz="1500" b="1" spc="34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reboot.</a:t>
            </a:r>
            <a:r>
              <a:rPr sz="1500" b="1" spc="33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Run</a:t>
            </a:r>
            <a:r>
              <a:rPr sz="1500" spc="34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mdadm</a:t>
            </a:r>
            <a:r>
              <a:rPr sz="1500" b="1" spc="33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--</a:t>
            </a:r>
            <a:r>
              <a:rPr sz="1500" b="1" dirty="0">
                <a:latin typeface="Calibri"/>
                <a:cs typeface="Calibri"/>
              </a:rPr>
              <a:t>assemble</a:t>
            </a:r>
            <a:r>
              <a:rPr sz="1500" b="1" spc="3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3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one</a:t>
            </a:r>
            <a:r>
              <a:rPr sz="1500" spc="3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startup</a:t>
            </a:r>
            <a:r>
              <a:rPr sz="1500" spc="3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files 	</a:t>
            </a:r>
            <a:r>
              <a:rPr sz="1500" dirty="0">
                <a:latin typeface="Calibri"/>
                <a:cs typeface="Calibri"/>
              </a:rPr>
              <a:t>(e.g.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/etc/rc.d/rc.sysinit</a:t>
            </a:r>
            <a:r>
              <a:rPr sz="1500" spc="20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2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/etc/init.d/rcS)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When</a:t>
            </a:r>
            <a:r>
              <a:rPr sz="1500" spc="20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called</a:t>
            </a:r>
            <a:r>
              <a:rPr sz="1500" spc="2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20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"-</a:t>
            </a:r>
            <a:r>
              <a:rPr sz="1500" dirty="0">
                <a:latin typeface="Calibri"/>
                <a:cs typeface="Calibri"/>
              </a:rPr>
              <a:t>s"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option</a:t>
            </a:r>
            <a:r>
              <a:rPr sz="1500" spc="1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(scan)</a:t>
            </a:r>
            <a:r>
              <a:rPr sz="1500" spc="2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mdadm</a:t>
            </a:r>
            <a:r>
              <a:rPr sz="1500" b="1" spc="20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-</a:t>
            </a:r>
            <a:r>
              <a:rPr sz="1500" b="1" spc="-50" dirty="0">
                <a:latin typeface="Calibri"/>
                <a:cs typeface="Calibri"/>
              </a:rPr>
              <a:t>- 	</a:t>
            </a:r>
            <a:r>
              <a:rPr sz="1500" b="1" dirty="0">
                <a:latin typeface="Calibri"/>
                <a:cs typeface="Calibri"/>
              </a:rPr>
              <a:t>assemble</a:t>
            </a:r>
            <a:r>
              <a:rPr sz="1500" dirty="0">
                <a:latin typeface="Calibri"/>
                <a:cs typeface="Calibri"/>
              </a:rPr>
              <a:t>,</a:t>
            </a:r>
            <a:r>
              <a:rPr sz="1500" spc="2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instructs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mdadm</a:t>
            </a:r>
            <a:r>
              <a:rPr sz="1500" b="1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2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/etc/mdadm.conf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2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2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exists,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2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otherwise</a:t>
            </a:r>
            <a:r>
              <a:rPr sz="1500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2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fallback 	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22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/proc/mdstat</a:t>
            </a:r>
            <a:r>
              <a:rPr sz="1500" spc="22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22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missing</a:t>
            </a:r>
            <a:r>
              <a:rPr sz="1500" spc="22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information.</a:t>
            </a:r>
            <a:r>
              <a:rPr sz="1500" spc="22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21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typical</a:t>
            </a:r>
            <a:r>
              <a:rPr sz="1500" spc="22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system</a:t>
            </a:r>
            <a:r>
              <a:rPr sz="1500" spc="21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startup</a:t>
            </a:r>
            <a:r>
              <a:rPr sz="1500" spc="21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entry</a:t>
            </a:r>
            <a:r>
              <a:rPr sz="1500" spc="22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could</a:t>
            </a:r>
            <a:r>
              <a:rPr sz="1500" spc="22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215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for 	</a:t>
            </a:r>
            <a:r>
              <a:rPr sz="1500" spc="-10" dirty="0">
                <a:latin typeface="Calibri"/>
                <a:cs typeface="Calibri"/>
              </a:rPr>
              <a:t>example,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mdadm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--</a:t>
            </a:r>
            <a:r>
              <a:rPr sz="1500" b="1" dirty="0">
                <a:latin typeface="Calibri"/>
                <a:cs typeface="Calibri"/>
              </a:rPr>
              <a:t>assemble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-</a:t>
            </a:r>
            <a:r>
              <a:rPr sz="1500" b="1" spc="-25" dirty="0">
                <a:latin typeface="Calibri"/>
                <a:cs typeface="Calibri"/>
              </a:rPr>
              <a:t>s</a:t>
            </a:r>
            <a:r>
              <a:rPr sz="1500" spc="-25" dirty="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ts val="1620"/>
              </a:lnSpc>
              <a:spcBef>
                <a:spcPts val="1810"/>
              </a:spcBef>
              <a:buFont typeface="Arial MT"/>
              <a:buChar char="•"/>
              <a:tabLst>
                <a:tab pos="355600" algn="l"/>
              </a:tabLst>
            </a:pPr>
            <a:r>
              <a:rPr sz="1500" b="1" dirty="0">
                <a:latin typeface="Calibri"/>
                <a:cs typeface="Calibri"/>
              </a:rPr>
              <a:t>mount</a:t>
            </a:r>
            <a:r>
              <a:rPr sz="1500" b="1" spc="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the</a:t>
            </a:r>
            <a:r>
              <a:rPr sz="1500" b="1" spc="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filesystem</a:t>
            </a:r>
            <a:r>
              <a:rPr sz="1500" b="1" spc="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on</a:t>
            </a:r>
            <a:r>
              <a:rPr sz="1500" b="1" spc="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the</a:t>
            </a:r>
            <a:r>
              <a:rPr sz="1500" b="1" spc="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RAID</a:t>
            </a:r>
            <a:r>
              <a:rPr sz="1500" b="1" spc="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drive.</a:t>
            </a:r>
            <a:r>
              <a:rPr sz="1500" b="1" spc="3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Edit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/etc/fstab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automatically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mount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filesystem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on</a:t>
            </a:r>
            <a:endParaRPr sz="1500">
              <a:latin typeface="Calibri"/>
              <a:cs typeface="Calibri"/>
            </a:endParaRPr>
          </a:p>
          <a:p>
            <a:pPr marL="355600">
              <a:lnSpc>
                <a:spcPts val="1620"/>
              </a:lnSpc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RAID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drive.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entry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/etc/fstab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identical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normal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block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devices </a:t>
            </a:r>
            <a:r>
              <a:rPr sz="1500" spc="-10" dirty="0">
                <a:latin typeface="Calibri"/>
                <a:cs typeface="Calibri"/>
              </a:rPr>
              <a:t>containing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</a:t>
            </a:r>
            <a:r>
              <a:rPr sz="1500" spc="-10" dirty="0">
                <a:latin typeface="Calibri"/>
                <a:cs typeface="Calibri"/>
              </a:rPr>
              <a:t> systems.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500">
              <a:latin typeface="Calibri"/>
              <a:cs typeface="Calibri"/>
            </a:endParaRPr>
          </a:p>
          <a:p>
            <a:pPr marL="351790" marR="5715" indent="-339725" algn="just">
              <a:lnSpc>
                <a:spcPts val="1440"/>
              </a:lnSpc>
              <a:buFont typeface="Arial MT"/>
              <a:buChar char="•"/>
              <a:tabLst>
                <a:tab pos="355600" algn="l"/>
              </a:tabLst>
            </a:pPr>
            <a:r>
              <a:rPr sz="1500" b="1" dirty="0">
                <a:latin typeface="Calibri"/>
                <a:cs typeface="Calibri"/>
              </a:rPr>
              <a:t>Manual</a:t>
            </a:r>
            <a:r>
              <a:rPr sz="1500" b="1" spc="1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RAID</a:t>
            </a:r>
            <a:r>
              <a:rPr sz="1500" b="1" spc="1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activation</a:t>
            </a:r>
            <a:r>
              <a:rPr sz="1500" b="1" spc="1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and</a:t>
            </a:r>
            <a:r>
              <a:rPr sz="1500" b="1" spc="114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mounting.</a:t>
            </a:r>
            <a:r>
              <a:rPr sz="1500" b="1" spc="114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Run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mdadm</a:t>
            </a:r>
            <a:r>
              <a:rPr sz="1500" b="1" spc="12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--</a:t>
            </a:r>
            <a:r>
              <a:rPr sz="1500" b="1" dirty="0">
                <a:latin typeface="Calibri"/>
                <a:cs typeface="Calibri"/>
              </a:rPr>
              <a:t>assemble</a:t>
            </a:r>
            <a:r>
              <a:rPr sz="1500" b="1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RAID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block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device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you 	</a:t>
            </a:r>
            <a:r>
              <a:rPr sz="1500" dirty="0">
                <a:latin typeface="Calibri"/>
                <a:cs typeface="Calibri"/>
              </a:rPr>
              <a:t>want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start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manually.</a:t>
            </a:r>
            <a:r>
              <a:rPr sz="1500" dirty="0">
                <a:latin typeface="Calibri"/>
                <a:cs typeface="Calibri"/>
              </a:rPr>
              <a:t> After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starting 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RAID device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you can mount any </a:t>
            </a:r>
            <a:r>
              <a:rPr sz="1500" spc="-10" dirty="0">
                <a:latin typeface="Calibri"/>
                <a:cs typeface="Calibri"/>
              </a:rPr>
              <a:t>filesystem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present on </a:t>
            </a:r>
            <a:r>
              <a:rPr sz="1500" spc="-25" dirty="0">
                <a:latin typeface="Calibri"/>
                <a:cs typeface="Calibri"/>
              </a:rPr>
              <a:t>the 	</a:t>
            </a:r>
            <a:r>
              <a:rPr sz="1500" dirty="0">
                <a:latin typeface="Calibri"/>
                <a:cs typeface="Calibri"/>
              </a:rPr>
              <a:t>device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mount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appropriate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options.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814"/>
              </a:spcBef>
              <a:buFont typeface="Arial MT"/>
              <a:buChar char="•"/>
              <a:tabLst>
                <a:tab pos="355600" algn="l"/>
              </a:tabLst>
            </a:pPr>
            <a:r>
              <a:rPr sz="1500" b="1" dirty="0">
                <a:latin typeface="Calibri"/>
                <a:cs typeface="Calibri"/>
              </a:rPr>
              <a:t>Configuring</a:t>
            </a:r>
            <a:r>
              <a:rPr sz="1500" b="1" spc="-6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RAID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(alternative)</a:t>
            </a:r>
            <a:endParaRPr sz="1500">
              <a:latin typeface="Calibri"/>
              <a:cs typeface="Calibri"/>
            </a:endParaRPr>
          </a:p>
          <a:p>
            <a:pPr marL="12700" marR="739775" indent="385445">
              <a:lnSpc>
                <a:spcPts val="1440"/>
              </a:lnSpc>
              <a:spcBef>
                <a:spcPts val="345"/>
              </a:spcBef>
            </a:pPr>
            <a:r>
              <a:rPr sz="1500" dirty="0">
                <a:latin typeface="Calibri"/>
                <a:cs typeface="Calibri"/>
              </a:rPr>
              <a:t>Instead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managing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RAID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via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mdadm</a:t>
            </a:r>
            <a:r>
              <a:rPr sz="1500" dirty="0">
                <a:latin typeface="Calibri"/>
                <a:cs typeface="Calibri"/>
              </a:rPr>
              <a:t>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configured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via </a:t>
            </a:r>
            <a:r>
              <a:rPr sz="1500" spc="-10" dirty="0">
                <a:latin typeface="Calibri"/>
                <a:cs typeface="Calibri"/>
              </a:rPr>
              <a:t>/etc/raidtab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controlled </a:t>
            </a:r>
            <a:r>
              <a:rPr sz="1500" dirty="0">
                <a:latin typeface="Calibri"/>
                <a:cs typeface="Calibri"/>
              </a:rPr>
              <a:t>via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raidstart</a:t>
            </a:r>
            <a:r>
              <a:rPr sz="1500" spc="-10" dirty="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3488</Words>
  <Application>Microsoft Office PowerPoint</Application>
  <PresentationFormat>On-screen Show (4:3)</PresentationFormat>
  <Paragraphs>175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MT</vt:lpstr>
      <vt:lpstr>Calibri</vt:lpstr>
      <vt:lpstr>Calibri Light</vt:lpstr>
      <vt:lpstr>Times New Roman</vt:lpstr>
      <vt:lpstr>Office Theme</vt:lpstr>
      <vt:lpstr>Advanced disk management (RAID)</vt:lpstr>
      <vt:lpstr>What is RAID ?</vt:lpstr>
      <vt:lpstr>Redundancy</vt:lpstr>
      <vt:lpstr>Mirroring (Continued)</vt:lpstr>
      <vt:lpstr>Mirroring</vt:lpstr>
      <vt:lpstr>Parity</vt:lpstr>
      <vt:lpstr>Degraded</vt:lpstr>
      <vt:lpstr>Reconstruction, resynchronization, and recovery</vt:lpstr>
      <vt:lpstr>Striping</vt:lpstr>
      <vt:lpstr>Linear Mode</vt:lpstr>
      <vt:lpstr>RAID 0 (Striping)</vt:lpstr>
      <vt:lpstr>RAID 1 (Mirroring)</vt:lpstr>
      <vt:lpstr>RAID-4: Dedicated Parity</vt:lpstr>
      <vt:lpstr>RAID-5: Distributed Parity</vt:lpstr>
      <vt:lpstr>RAID 10</vt:lpstr>
      <vt:lpstr>Hardware or Software?</vt:lpstr>
      <vt:lpstr>Software (Kernel-Managed) RAID</vt:lpstr>
      <vt:lpstr>Hardware RAID</vt:lpstr>
      <vt:lpstr>RAID Case Studies</vt:lpstr>
      <vt:lpstr>Case 1: HTTP Image Server</vt:lpstr>
      <vt:lpstr>Case 2: Usenet News</vt:lpstr>
      <vt:lpstr>A Usenet news server with both a striped and mirror array</vt:lpstr>
      <vt:lpstr>Case 3: The Acme Motion Picture Company</vt:lpstr>
      <vt:lpstr>Case 4: Video on Demand</vt:lpstr>
      <vt:lpstr>Hot-Spares</vt:lpstr>
      <vt:lpstr>Working with Software RAID</vt:lpstr>
      <vt:lpstr>The main differences between mdadm and raidtools are:</vt:lpstr>
      <vt:lpstr>Follow these steps to set up software RAID in Linux:</vt:lpstr>
      <vt:lpstr>Steps in raid deployment on linux (Continued)</vt:lpstr>
      <vt:lpstr>Steps in raid deployment on linux (Continued)</vt:lpstr>
      <vt:lpstr>Steps in raid deployment on linux</vt:lpstr>
      <vt:lpstr>Note: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mehdi</dc:creator>
  <cp:lastModifiedBy>Mohammad Hosein Rabiee</cp:lastModifiedBy>
  <cp:revision>1</cp:revision>
  <dcterms:created xsi:type="dcterms:W3CDTF">2024-12-26T15:25:32Z</dcterms:created>
  <dcterms:modified xsi:type="dcterms:W3CDTF">2024-12-27T09:19:46Z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2024-12-26T00:00:00Z</vt:filetime>
  </property>
  <property fmtid="{D5CDD505-2E9C-101B-9397-08002B2CF9AE}" pid="5" name="Producer">
    <vt:lpwstr>Microsoft® PowerPoint® 2010</vt:lpwstr>
  </property>
</Properties>
</file>